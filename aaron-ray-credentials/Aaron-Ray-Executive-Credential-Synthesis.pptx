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428"/>
        </a:solidFill>
      </p:bgPr>
    </p:bg>
    <p:spTree>
      <p:nvGrpSpPr>
        <p:cNvPr id="1" name=""/>
        <p:cNvGrpSpPr/>
        <p:nvPr/>
      </p:nvGrpSpPr>
      <p:grpSpPr>
        <a:xfrm>
          <a:off x="0" y="0"/>
          <a:ext cx="0" cy="0"/>
          <a:chOff x="0" y="0"/>
          <a:chExt cx="0" cy="0"/>
        </a:xfrm>
      </p:grpSpPr>
      <p:sp>
        <p:nvSpPr>
          <p:cNvPr id="2" name="Text 0"/>
          <p:cNvSpPr/>
          <p:nvPr/>
        </p:nvSpPr>
        <p:spPr>
          <a:xfrm>
            <a:off x="502920" y="384048"/>
            <a:ext cx="8229600" cy="256032"/>
          </a:xfrm>
          <a:prstGeom prst="rect">
            <a:avLst/>
          </a:prstGeom>
          <a:noFill/>
          <a:ln/>
        </p:spPr>
        <p:txBody>
          <a:bodyPr wrap="square" rtlCol="0" anchor="ctr"/>
          <a:lstStyle/>
          <a:p>
            <a:pPr algn="l" indent="0" marL="0">
              <a:buNone/>
            </a:pPr>
            <a:r>
              <a:rPr lang="en-US" sz="1100" spc="400" kern="0" dirty="0">
                <a:solidFill>
                  <a:srgbClr val="C9A96E"/>
                </a:solidFill>
                <a:latin typeface="Bebas Neue" pitchFamily="34" charset="0"/>
                <a:ea typeface="Bebas Neue" pitchFamily="34" charset="-122"/>
                <a:cs typeface="Bebas Neue" pitchFamily="34" charset="-120"/>
              </a:rPr>
              <a:t>INSTRUMENT DESIGN TIER</a:t>
            </a:r>
            <a:endParaRPr lang="en-US" sz="1100" dirty="0"/>
          </a:p>
        </p:txBody>
      </p:sp>
      <p:sp>
        <p:nvSpPr>
          <p:cNvPr id="3" name="Text 1"/>
          <p:cNvSpPr/>
          <p:nvPr/>
        </p:nvSpPr>
        <p:spPr>
          <a:xfrm>
            <a:off x="502920" y="868680"/>
            <a:ext cx="8229600" cy="384048"/>
          </a:xfrm>
          <a:prstGeom prst="rect">
            <a:avLst/>
          </a:prstGeom>
          <a:noFill/>
          <a:ln/>
        </p:spPr>
        <p:txBody>
          <a:bodyPr wrap="square" rtlCol="0" anchor="ctr"/>
          <a:lstStyle/>
          <a:p>
            <a:pPr indent="0" marL="0">
              <a:buNone/>
            </a:pPr>
            <a:r>
              <a:rPr lang="en-US" sz="1600" spc="250" kern="0" dirty="0">
                <a:solidFill>
                  <a:srgbClr val="F2EFE6"/>
                </a:solidFill>
                <a:latin typeface="Bebas Neue" pitchFamily="34" charset="0"/>
                <a:ea typeface="Bebas Neue" pitchFamily="34" charset="-122"/>
                <a:cs typeface="Bebas Neue" pitchFamily="34" charset="-120"/>
              </a:rPr>
              <a:t>EXECUTIVE CREDENTIAL SYNTHESIS</a:t>
            </a:r>
            <a:endParaRPr lang="en-US" sz="1600" dirty="0"/>
          </a:p>
        </p:txBody>
      </p:sp>
      <p:sp>
        <p:nvSpPr>
          <p:cNvPr id="4" name="Text 2"/>
          <p:cNvSpPr/>
          <p:nvPr/>
        </p:nvSpPr>
        <p:spPr>
          <a:xfrm>
            <a:off x="502920" y="1508760"/>
            <a:ext cx="8229600" cy="960120"/>
          </a:xfrm>
          <a:prstGeom prst="rect">
            <a:avLst/>
          </a:prstGeom>
          <a:noFill/>
          <a:ln/>
        </p:spPr>
        <p:txBody>
          <a:bodyPr wrap="square" rtlCol="0" anchor="ctr"/>
          <a:lstStyle/>
          <a:p>
            <a:pPr indent="0" marL="0">
              <a:buNone/>
            </a:pPr>
            <a:r>
              <a:rPr lang="en-US" sz="5800" spc="-50" kern="0" dirty="0">
                <a:solidFill>
                  <a:srgbClr val="F2EFE6"/>
                </a:solidFill>
                <a:latin typeface="Bebas Neue" pitchFamily="34" charset="0"/>
                <a:ea typeface="Bebas Neue" pitchFamily="34" charset="-122"/>
                <a:cs typeface="Bebas Neue" pitchFamily="34" charset="-120"/>
              </a:rPr>
              <a:t>AARON RAY</a:t>
            </a:r>
            <a:endParaRPr lang="en-US" sz="5800" dirty="0"/>
          </a:p>
        </p:txBody>
      </p:sp>
      <p:sp>
        <p:nvSpPr>
          <p:cNvPr id="5" name="Text 3"/>
          <p:cNvSpPr/>
          <p:nvPr/>
        </p:nvSpPr>
        <p:spPr>
          <a:xfrm>
            <a:off x="502920" y="2578608"/>
            <a:ext cx="8229600" cy="347472"/>
          </a:xfrm>
          <a:prstGeom prst="rect">
            <a:avLst/>
          </a:prstGeom>
          <a:noFill/>
          <a:ln/>
        </p:spPr>
        <p:txBody>
          <a:bodyPr wrap="square" rtlCol="0" anchor="ctr"/>
          <a:lstStyle/>
          <a:p>
            <a:pPr indent="0" marL="0">
              <a:buNone/>
            </a:pPr>
            <a:r>
              <a:rPr lang="en-US" sz="1200" spc="60" kern="0" dirty="0">
                <a:solidFill>
                  <a:srgbClr val="C9A96E"/>
                </a:solidFill>
                <a:latin typeface="IBM Plex Mono" pitchFamily="34" charset="0"/>
                <a:ea typeface="IBM Plex Mono" pitchFamily="34" charset="-122"/>
                <a:cs typeface="IBM Plex Mono" pitchFamily="34" charset="-120"/>
              </a:rPr>
              <a:t>AI Emotional Benchmarking  •  Forensic Audiovisual Analysis  •  Artificial Senses Systems</a:t>
            </a:r>
            <a:endParaRPr lang="en-US" sz="1200" dirty="0"/>
          </a:p>
        </p:txBody>
      </p:sp>
      <p:sp>
        <p:nvSpPr>
          <p:cNvPr id="6" name="Shape 4"/>
          <p:cNvSpPr/>
          <p:nvPr/>
        </p:nvSpPr>
        <p:spPr>
          <a:xfrm>
            <a:off x="502920" y="3090672"/>
            <a:ext cx="8138160" cy="0"/>
          </a:xfrm>
          <a:prstGeom prst="line">
            <a:avLst/>
          </a:prstGeom>
          <a:noFill/>
          <a:ln w="19050">
            <a:solidFill>
              <a:srgbClr val="C9A96E"/>
            </a:solidFill>
            <a:prstDash val="solid"/>
          </a:ln>
        </p:spPr>
      </p:sp>
      <p:sp>
        <p:nvSpPr>
          <p:cNvPr id="7" name="Text 5"/>
          <p:cNvSpPr/>
          <p:nvPr/>
        </p:nvSpPr>
        <p:spPr>
          <a:xfrm>
            <a:off x="502920" y="3310128"/>
            <a:ext cx="8229600" cy="237744"/>
          </a:xfrm>
          <a:prstGeom prst="rect">
            <a:avLst/>
          </a:prstGeom>
          <a:noFill/>
          <a:ln/>
        </p:spPr>
        <p:txBody>
          <a:bodyPr wrap="square" rtlCol="0" anchor="ctr"/>
          <a:lstStyle/>
          <a:p>
            <a:pPr indent="0" marL="0">
              <a:buNone/>
            </a:pPr>
            <a:r>
              <a:rPr lang="en-US" sz="900" spc="120" kern="0" dirty="0">
                <a:solidFill>
                  <a:srgbClr val="A68A55"/>
                </a:solidFill>
                <a:latin typeface="IBM Plex Mono" pitchFamily="34" charset="0"/>
                <a:ea typeface="IBM Plex Mono" pitchFamily="34" charset="-122"/>
                <a:cs typeface="IBM Plex Mono" pitchFamily="34" charset="-120"/>
              </a:rPr>
              <a:t>Target Package Architecture</a:t>
            </a:r>
            <a:endParaRPr lang="en-US" sz="900" dirty="0"/>
          </a:p>
        </p:txBody>
      </p:sp>
      <p:sp>
        <p:nvSpPr>
          <p:cNvPr id="8" name="Text 6"/>
          <p:cNvSpPr/>
          <p:nvPr/>
        </p:nvSpPr>
        <p:spPr>
          <a:xfrm>
            <a:off x="502920" y="3547872"/>
            <a:ext cx="8229600" cy="292608"/>
          </a:xfrm>
          <a:prstGeom prst="rect">
            <a:avLst/>
          </a:prstGeom>
          <a:noFill/>
          <a:ln/>
        </p:spPr>
        <p:txBody>
          <a:bodyPr wrap="square" rtlCol="0" anchor="ctr"/>
          <a:lstStyle/>
          <a:p>
            <a:pPr indent="0" marL="0">
              <a:buNone/>
            </a:pPr>
            <a:r>
              <a:rPr lang="en-US" sz="1300" dirty="0">
                <a:solidFill>
                  <a:srgbClr val="F2EFE6"/>
                </a:solidFill>
                <a:latin typeface="IBM Plex Mono" pitchFamily="34" charset="0"/>
                <a:ea typeface="IBM Plex Mono" pitchFamily="34" charset="-122"/>
                <a:cs typeface="IBM Plex Mono" pitchFamily="34" charset="-120"/>
              </a:rPr>
              <a:t>Navy  •  Cream  •  IBM Plex Mono  •  Bebas Neue Headers  •  Gold Rules</a:t>
            </a:r>
            <a:endParaRPr lang="en-US" sz="1300" dirty="0"/>
          </a:p>
        </p:txBody>
      </p:sp>
      <p:sp>
        <p:nvSpPr>
          <p:cNvPr id="9" name="Text 7"/>
          <p:cNvSpPr/>
          <p:nvPr/>
        </p:nvSpPr>
        <p:spPr>
          <a:xfrm>
            <a:off x="502920" y="4434840"/>
            <a:ext cx="8138160" cy="320040"/>
          </a:xfrm>
          <a:prstGeom prst="rect">
            <a:avLst/>
          </a:prstGeom>
          <a:noFill/>
          <a:ln/>
        </p:spPr>
        <p:txBody>
          <a:bodyPr wrap="square" rtlCol="0" anchor="ctr"/>
          <a:lstStyle/>
          <a:p>
            <a:pPr indent="0" marL="0">
              <a:buNone/>
            </a:pPr>
            <a:r>
              <a:rPr lang="en-US" sz="1000" i="1" dirty="0">
                <a:solidFill>
                  <a:srgbClr val="8BA1B8"/>
                </a:solidFill>
                <a:latin typeface="IBM Plex Mono" pitchFamily="34" charset="0"/>
                <a:ea typeface="IBM Plex Mono" pitchFamily="34" charset="-122"/>
                <a:cs typeface="IBM Plex Mono" pitchFamily="34" charset="-120"/>
              </a:rPr>
              <a:t>Prepared for strategic positioning in advanced AI sensory &amp; emotional intelligence benchmark design.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96E"/>
          </a:solidFill>
          <a:ln w="12700">
            <a:solidFill>
              <a:srgbClr val="C9A96E"/>
            </a:solidFill>
            <a:prstDash val="solid"/>
          </a:ln>
        </p:spPr>
      </p:sp>
      <p:sp>
        <p:nvSpPr>
          <p:cNvPr id="3" name="Text 1"/>
          <p:cNvSpPr/>
          <p:nvPr/>
        </p:nvSpPr>
        <p:spPr>
          <a:xfrm>
            <a:off x="502920" y="320040"/>
            <a:ext cx="1097280" cy="502920"/>
          </a:xfrm>
          <a:prstGeom prst="rect">
            <a:avLst/>
          </a:prstGeom>
          <a:noFill/>
          <a:ln/>
        </p:spPr>
        <p:txBody>
          <a:bodyPr wrap="square" rtlCol="0" anchor="ctr"/>
          <a:lstStyle/>
          <a:p>
            <a:pPr indent="0" marL="0">
              <a:buNone/>
            </a:pPr>
            <a:r>
              <a:rPr lang="en-US" sz="3200" dirty="0">
                <a:solidFill>
                  <a:srgbClr val="C9A96E"/>
                </a:solidFill>
                <a:latin typeface="Bebas Neue" pitchFamily="34" charset="0"/>
                <a:ea typeface="Bebas Neue" pitchFamily="34" charset="-122"/>
                <a:cs typeface="Bebas Neue" pitchFamily="34" charset="-120"/>
              </a:rPr>
              <a:t>01</a:t>
            </a:r>
            <a:endParaRPr lang="en-US" sz="3200" dirty="0"/>
          </a:p>
        </p:txBody>
      </p:sp>
      <p:sp>
        <p:nvSpPr>
          <p:cNvPr id="4" name="Text 2"/>
          <p:cNvSpPr/>
          <p:nvPr/>
        </p:nvSpPr>
        <p:spPr>
          <a:xfrm>
            <a:off x="1417320" y="384048"/>
            <a:ext cx="7315200" cy="438912"/>
          </a:xfrm>
          <a:prstGeom prst="rect">
            <a:avLst/>
          </a:prstGeom>
          <a:noFill/>
          <a:ln/>
        </p:spPr>
        <p:txBody>
          <a:bodyPr wrap="square" rtlCol="0" anchor="ctr"/>
          <a:lstStyle/>
          <a:p>
            <a:pPr indent="0" marL="0">
              <a:buNone/>
            </a:pPr>
            <a:r>
              <a:rPr lang="en-US" sz="1800" spc="80" kern="0" dirty="0">
                <a:solidFill>
                  <a:srgbClr val="0B1E3A"/>
                </a:solidFill>
                <a:latin typeface="Bebas Neue" pitchFamily="34" charset="0"/>
                <a:ea typeface="Bebas Neue" pitchFamily="34" charset="-122"/>
                <a:cs typeface="Bebas Neue" pitchFamily="34" charset="-120"/>
              </a:rPr>
              <a:t>ENTERTAINMENT INDUSTRY CREDENTIAL BASE</a:t>
            </a:r>
            <a:endParaRPr lang="en-US" sz="1800" dirty="0"/>
          </a:p>
        </p:txBody>
      </p:sp>
      <p:sp>
        <p:nvSpPr>
          <p:cNvPr id="5" name="Shape 3"/>
          <p:cNvSpPr/>
          <p:nvPr/>
        </p:nvSpPr>
        <p:spPr>
          <a:xfrm>
            <a:off x="502920" y="896112"/>
            <a:ext cx="8138160" cy="0"/>
          </a:xfrm>
          <a:prstGeom prst="line">
            <a:avLst/>
          </a:prstGeom>
          <a:noFill/>
          <a:ln w="15875">
            <a:solidFill>
              <a:srgbClr val="C9A96E"/>
            </a:solidFill>
            <a:prstDash val="solid"/>
          </a:ln>
        </p:spPr>
      </p:sp>
      <p:sp>
        <p:nvSpPr>
          <p:cNvPr id="6" name="Text 4"/>
          <p:cNvSpPr/>
          <p:nvPr/>
        </p:nvSpPr>
        <p:spPr>
          <a:xfrm>
            <a:off x="502920" y="1078992"/>
            <a:ext cx="8229600" cy="256032"/>
          </a:xfrm>
          <a:prstGeom prst="rect">
            <a:avLst/>
          </a:prstGeom>
          <a:noFill/>
          <a:ln/>
        </p:spPr>
        <p:txBody>
          <a:bodyPr wrap="square" rtlCol="0" anchor="ctr"/>
          <a:lstStyle/>
          <a:p>
            <a:pPr indent="0" marL="0">
              <a:buNone/>
            </a:pPr>
            <a:r>
              <a:rPr lang="en-US" sz="1100" spc="150" kern="0" dirty="0">
                <a:solidFill>
                  <a:srgbClr val="A68A55"/>
                </a:solidFill>
                <a:latin typeface="Bebas Neue" pitchFamily="34" charset="0"/>
                <a:ea typeface="Bebas Neue" pitchFamily="34" charset="-122"/>
                <a:cs typeface="Bebas Neue" pitchFamily="34" charset="-120"/>
              </a:rPr>
              <a:t>Operational Scale Statement</a:t>
            </a:r>
            <a:endParaRPr lang="en-US" sz="1100" dirty="0"/>
          </a:p>
        </p:txBody>
      </p:sp>
      <p:sp>
        <p:nvSpPr>
          <p:cNvPr id="7" name="Text 5"/>
          <p:cNvSpPr/>
          <p:nvPr/>
        </p:nvSpPr>
        <p:spPr>
          <a:xfrm>
            <a:off x="502920" y="1353312"/>
            <a:ext cx="8138160" cy="868680"/>
          </a:xfrm>
          <a:prstGeom prst="rect">
            <a:avLst/>
          </a:prstGeom>
          <a:noFill/>
          <a:ln/>
        </p:spPr>
        <p:txBody>
          <a:bodyPr wrap="square" rtlCol="0" anchor="ctr"/>
          <a:lstStyle/>
          <a:p>
            <a:pPr indent="0" marL="0">
              <a:lnSpc>
                <a:spcPts val="1800"/>
              </a:lnSpc>
              <a:buNone/>
            </a:pPr>
            <a:r>
              <a:rPr lang="en-US" sz="1300" dirty="0">
                <a:solidFill>
                  <a:srgbClr val="0B1E3A"/>
                </a:solidFill>
                <a:latin typeface="IBM Plex Mono" pitchFamily="34" charset="0"/>
                <a:ea typeface="IBM Plex Mono" pitchFamily="34" charset="-122"/>
                <a:cs typeface="IBM Plex Mono" pitchFamily="34" charset="-120"/>
              </a:rPr>
              <a:t>Over 35 years directing human emotional response at scale across a major portfolio of commercial media properties, managing packaging, production, and executive execution pipelines that generated substantial global audience engagement and commercial performance.</a:t>
            </a:r>
            <a:endParaRPr lang="en-US" sz="1300" dirty="0"/>
          </a:p>
        </p:txBody>
      </p:sp>
      <p:sp>
        <p:nvSpPr>
          <p:cNvPr id="8" name="Text 6"/>
          <p:cNvSpPr/>
          <p:nvPr/>
        </p:nvSpPr>
        <p:spPr>
          <a:xfrm>
            <a:off x="502920" y="2331720"/>
            <a:ext cx="8229600" cy="256032"/>
          </a:xfrm>
          <a:prstGeom prst="rect">
            <a:avLst/>
          </a:prstGeom>
          <a:noFill/>
          <a:ln/>
        </p:spPr>
        <p:txBody>
          <a:bodyPr wrap="square" rtlCol="0" anchor="ctr"/>
          <a:lstStyle/>
          <a:p>
            <a:pPr indent="0" marL="0">
              <a:buNone/>
            </a:pPr>
            <a:r>
              <a:rPr lang="en-US" sz="1100" spc="150" kern="0" dirty="0">
                <a:solidFill>
                  <a:srgbClr val="A68A55"/>
                </a:solidFill>
                <a:latin typeface="Bebas Neue" pitchFamily="34" charset="0"/>
                <a:ea typeface="Bebas Neue" pitchFamily="34" charset="-122"/>
                <a:cs typeface="Bebas Neue" pitchFamily="34" charset="-120"/>
              </a:rPr>
              <a:t>Core Creative Elements Analyzed</a:t>
            </a:r>
            <a:endParaRPr lang="en-US" sz="1100" dirty="0"/>
          </a:p>
        </p:txBody>
      </p:sp>
      <p:sp>
        <p:nvSpPr>
          <p:cNvPr id="9" name="Text 7"/>
          <p:cNvSpPr/>
          <p:nvPr/>
        </p:nvSpPr>
        <p:spPr>
          <a:xfrm>
            <a:off x="502920" y="2606040"/>
            <a:ext cx="8138160" cy="868680"/>
          </a:xfrm>
          <a:prstGeom prst="rect">
            <a:avLst/>
          </a:prstGeom>
          <a:noFill/>
          <a:ln/>
        </p:spPr>
        <p:txBody>
          <a:bodyPr wrap="square" rtlCol="0" anchor="ctr"/>
          <a:lstStyle/>
          <a:p>
            <a:pPr indent="0" marL="0">
              <a:lnSpc>
                <a:spcPts val="1800"/>
              </a:lnSpc>
              <a:buNone/>
            </a:pPr>
            <a:r>
              <a:rPr lang="en-US" sz="1300" dirty="0">
                <a:solidFill>
                  <a:srgbClr val="0B1E3A"/>
                </a:solidFill>
                <a:latin typeface="IBM Plex Mono" pitchFamily="34" charset="0"/>
                <a:ea typeface="IBM Plex Mono" pitchFamily="34" charset="-122"/>
                <a:cs typeface="IBM Plex Mono" pitchFamily="34" charset="-120"/>
              </a:rPr>
              <a:t>Continuous analysis of audience behavioral engagement metrics, tracking the interplay of soundtrack structures, comedic timing, and dramatic narrative architectures to maximize viewer completion rates and retention.</a:t>
            </a:r>
            <a:endParaRPr lang="en-US" sz="1300" dirty="0"/>
          </a:p>
        </p:txBody>
      </p:sp>
      <p:sp>
        <p:nvSpPr>
          <p:cNvPr id="10" name="Text 8"/>
          <p:cNvSpPr/>
          <p:nvPr/>
        </p:nvSpPr>
        <p:spPr>
          <a:xfrm>
            <a:off x="502920" y="3657600"/>
            <a:ext cx="8138160" cy="594360"/>
          </a:xfrm>
          <a:prstGeom prst="rect">
            <a:avLst/>
          </a:prstGeom>
          <a:noFill/>
          <a:ln/>
        </p:spPr>
        <p:txBody>
          <a:bodyPr wrap="square" rtlCol="0" anchor="ctr"/>
          <a:lstStyle/>
          <a:p>
            <a:pPr indent="0" marL="0">
              <a:lnSpc>
                <a:spcPts val="1700"/>
              </a:lnSpc>
              <a:buNone/>
            </a:pPr>
            <a:r>
              <a:rPr lang="en-US" sz="1200" i="1" dirty="0">
                <a:solidFill>
                  <a:srgbClr val="2A3A52"/>
                </a:solidFill>
                <a:latin typeface="IBM Plex Mono" pitchFamily="34" charset="0"/>
                <a:ea typeface="IBM Plex Mono" pitchFamily="34" charset="-122"/>
                <a:cs typeface="IBM Plex Mono" pitchFamily="34" charset="-120"/>
              </a:rPr>
              <a:t>This foundation in mass-scale emotional direction provides the empirical base layer for constructing valid, predictive emotional benchmarks in AI systems.</a:t>
            </a:r>
            <a:endParaRPr lang="en-US" sz="1200" dirty="0"/>
          </a:p>
        </p:txBody>
      </p:sp>
      <p:sp>
        <p:nvSpPr>
          <p:cNvPr id="11" name="Text 9"/>
          <p:cNvSpPr/>
          <p:nvPr/>
        </p:nvSpPr>
        <p:spPr>
          <a:xfrm>
            <a:off x="502920" y="4864608"/>
            <a:ext cx="6400800" cy="201168"/>
          </a:xfrm>
          <a:prstGeom prst="rect">
            <a:avLst/>
          </a:prstGeom>
          <a:noFill/>
          <a:ln/>
        </p:spPr>
        <p:txBody>
          <a:bodyPr wrap="square" rtlCol="0" anchor="ctr"/>
          <a:lstStyle/>
          <a:p>
            <a:pPr indent="0" marL="0">
              <a:buNone/>
            </a:pPr>
            <a:r>
              <a:rPr lang="en-US" sz="800" spc="150" kern="0" dirty="0">
                <a:solidFill>
                  <a:srgbClr val="A68A55"/>
                </a:solidFill>
                <a:latin typeface="IBM Plex Mono" pitchFamily="34" charset="0"/>
                <a:ea typeface="IBM Plex Mono" pitchFamily="34" charset="-122"/>
                <a:cs typeface="IBM Plex Mono" pitchFamily="34" charset="-120"/>
              </a:rPr>
              <a:t>AARON RAY  •  EXECUTIVE CREDENTIAL SYNTHESIS</a:t>
            </a:r>
            <a:endParaRPr lang="en-US" sz="800" dirty="0"/>
          </a:p>
        </p:txBody>
      </p:sp>
      <p:sp>
        <p:nvSpPr>
          <p:cNvPr id="12" name="Text 10"/>
          <p:cNvSpPr/>
          <p:nvPr/>
        </p:nvSpPr>
        <p:spPr>
          <a:xfrm>
            <a:off x="7498080" y="4864608"/>
            <a:ext cx="1188720" cy="201168"/>
          </a:xfrm>
          <a:prstGeom prst="rect">
            <a:avLst/>
          </a:prstGeom>
          <a:noFill/>
          <a:ln/>
        </p:spPr>
        <p:txBody>
          <a:bodyPr wrap="square" rtlCol="0" anchor="ctr"/>
          <a:lstStyle/>
          <a:p>
            <a:pPr algn="r" indent="0" marL="0">
              <a:buNone/>
            </a:pPr>
            <a:r>
              <a:rPr lang="en-US" sz="800" dirty="0">
                <a:solidFill>
                  <a:srgbClr val="A68A55"/>
                </a:solidFill>
                <a:latin typeface="IBM Plex Mono" pitchFamily="34" charset="0"/>
                <a:ea typeface="IBM Plex Mono" pitchFamily="34" charset="-122"/>
                <a:cs typeface="IBM Plex Mono" pitchFamily="34" charset="-120"/>
              </a:rPr>
              <a:t>02 / 06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96E"/>
          </a:solidFill>
          <a:ln w="12700">
            <a:solidFill>
              <a:srgbClr val="C9A96E"/>
            </a:solidFill>
            <a:prstDash val="solid"/>
          </a:ln>
        </p:spPr>
      </p:sp>
      <p:sp>
        <p:nvSpPr>
          <p:cNvPr id="3" name="Text 1"/>
          <p:cNvSpPr/>
          <p:nvPr/>
        </p:nvSpPr>
        <p:spPr>
          <a:xfrm>
            <a:off x="502920" y="320040"/>
            <a:ext cx="1097280" cy="502920"/>
          </a:xfrm>
          <a:prstGeom prst="rect">
            <a:avLst/>
          </a:prstGeom>
          <a:noFill/>
          <a:ln/>
        </p:spPr>
        <p:txBody>
          <a:bodyPr wrap="square" rtlCol="0" anchor="ctr"/>
          <a:lstStyle/>
          <a:p>
            <a:pPr indent="0" marL="0">
              <a:buNone/>
            </a:pPr>
            <a:r>
              <a:rPr lang="en-US" sz="3200" dirty="0">
                <a:solidFill>
                  <a:srgbClr val="C9A96E"/>
                </a:solidFill>
                <a:latin typeface="Bebas Neue" pitchFamily="34" charset="0"/>
                <a:ea typeface="Bebas Neue" pitchFamily="34" charset="-122"/>
                <a:cs typeface="Bebas Neue" pitchFamily="34" charset="-120"/>
              </a:rPr>
              <a:t>02</a:t>
            </a:r>
            <a:endParaRPr lang="en-US" sz="3200" dirty="0"/>
          </a:p>
        </p:txBody>
      </p:sp>
      <p:sp>
        <p:nvSpPr>
          <p:cNvPr id="4" name="Text 2"/>
          <p:cNvSpPr/>
          <p:nvPr/>
        </p:nvSpPr>
        <p:spPr>
          <a:xfrm>
            <a:off x="1417320" y="384048"/>
            <a:ext cx="7315200" cy="438912"/>
          </a:xfrm>
          <a:prstGeom prst="rect">
            <a:avLst/>
          </a:prstGeom>
          <a:noFill/>
          <a:ln/>
        </p:spPr>
        <p:txBody>
          <a:bodyPr wrap="square" rtlCol="0" anchor="ctr"/>
          <a:lstStyle/>
          <a:p>
            <a:pPr indent="0" marL="0">
              <a:buNone/>
            </a:pPr>
            <a:r>
              <a:rPr lang="en-US" sz="1800" spc="80" kern="0" dirty="0">
                <a:solidFill>
                  <a:srgbClr val="0B1E3A"/>
                </a:solidFill>
                <a:latin typeface="Bebas Neue" pitchFamily="34" charset="0"/>
                <a:ea typeface="Bebas Neue" pitchFamily="34" charset="-122"/>
                <a:cs typeface="Bebas Neue" pitchFamily="34" charset="-120"/>
              </a:rPr>
              <a:t>FORENSIC AUDIOVISUAL EXPERTISE</a:t>
            </a:r>
            <a:endParaRPr lang="en-US" sz="1800" dirty="0"/>
          </a:p>
        </p:txBody>
      </p:sp>
      <p:sp>
        <p:nvSpPr>
          <p:cNvPr id="5" name="Shape 3"/>
          <p:cNvSpPr/>
          <p:nvPr/>
        </p:nvSpPr>
        <p:spPr>
          <a:xfrm>
            <a:off x="502920" y="896112"/>
            <a:ext cx="8138160" cy="0"/>
          </a:xfrm>
          <a:prstGeom prst="line">
            <a:avLst/>
          </a:prstGeom>
          <a:noFill/>
          <a:ln w="15875">
            <a:solidFill>
              <a:srgbClr val="C9A96E"/>
            </a:solidFill>
            <a:prstDash val="solid"/>
          </a:ln>
        </p:spPr>
      </p:sp>
      <p:sp>
        <p:nvSpPr>
          <p:cNvPr id="6" name="Text 4"/>
          <p:cNvSpPr/>
          <p:nvPr/>
        </p:nvSpPr>
        <p:spPr>
          <a:xfrm>
            <a:off x="502920" y="1051560"/>
            <a:ext cx="8138160" cy="237744"/>
          </a:xfrm>
          <a:prstGeom prst="rect">
            <a:avLst/>
          </a:prstGeom>
          <a:noFill/>
          <a:ln/>
        </p:spPr>
        <p:txBody>
          <a:bodyPr wrap="square" rtlCol="0" anchor="ctr"/>
          <a:lstStyle/>
          <a:p>
            <a:pPr indent="0" marL="0">
              <a:buNone/>
            </a:pPr>
            <a:r>
              <a:rPr lang="en-US" sz="1100" spc="120" kern="0" dirty="0">
                <a:solidFill>
                  <a:srgbClr val="A68A55"/>
                </a:solidFill>
                <a:latin typeface="Bebas Neue" pitchFamily="34" charset="0"/>
                <a:ea typeface="Bebas Neue" pitchFamily="34" charset="-122"/>
                <a:cs typeface="Bebas Neue" pitchFamily="34" charset="-120"/>
              </a:rPr>
              <a:t>Forensic Phonetics &amp; Witness Qualifications</a:t>
            </a:r>
            <a:endParaRPr lang="en-US" sz="1100" dirty="0"/>
          </a:p>
        </p:txBody>
      </p:sp>
      <p:sp>
        <p:nvSpPr>
          <p:cNvPr id="7" name="Text 5"/>
          <p:cNvSpPr/>
          <p:nvPr/>
        </p:nvSpPr>
        <p:spPr>
          <a:xfrm>
            <a:off x="502920" y="1289304"/>
            <a:ext cx="8138160" cy="658368"/>
          </a:xfrm>
          <a:prstGeom prst="rect">
            <a:avLst/>
          </a:prstGeom>
          <a:noFill/>
          <a:ln/>
        </p:spPr>
        <p:txBody>
          <a:bodyPr wrap="square" rtlCol="0" anchor="ctr"/>
          <a:lstStyle/>
          <a:p>
            <a:pPr indent="0" marL="0">
              <a:lnSpc>
                <a:spcPts val="1700"/>
              </a:lnSpc>
              <a:buNone/>
            </a:pPr>
            <a:r>
              <a:rPr lang="en-US" sz="1250" dirty="0">
                <a:solidFill>
                  <a:srgbClr val="0B1E3A"/>
                </a:solidFill>
                <a:latin typeface="IBM Plex Mono" pitchFamily="34" charset="0"/>
                <a:ea typeface="IBM Plex Mono" pitchFamily="34" charset="-122"/>
                <a:cs typeface="IBM Plex Mono" pitchFamily="34" charset="-120"/>
              </a:rPr>
              <a:t>Direct alignment with the foundational principles established in Hollien (1990), establishing core competencies in forensic acoustics, voice identification protocols, and the scientific authentication of audio evidence within legal chains of custody.</a:t>
            </a:r>
            <a:endParaRPr lang="en-US" sz="1250" dirty="0"/>
          </a:p>
        </p:txBody>
      </p:sp>
      <p:sp>
        <p:nvSpPr>
          <p:cNvPr id="8" name="Shape 6"/>
          <p:cNvSpPr/>
          <p:nvPr/>
        </p:nvSpPr>
        <p:spPr>
          <a:xfrm>
            <a:off x="502920" y="1929384"/>
            <a:ext cx="8138160" cy="0"/>
          </a:xfrm>
          <a:prstGeom prst="line">
            <a:avLst/>
          </a:prstGeom>
          <a:noFill/>
          <a:ln w="9525">
            <a:solidFill>
              <a:srgbClr val="C9A96E"/>
            </a:solidFill>
            <a:prstDash val="solid"/>
          </a:ln>
        </p:spPr>
      </p:sp>
      <p:sp>
        <p:nvSpPr>
          <p:cNvPr id="9" name="Text 7"/>
          <p:cNvSpPr/>
          <p:nvPr/>
        </p:nvSpPr>
        <p:spPr>
          <a:xfrm>
            <a:off x="502920" y="2039112"/>
            <a:ext cx="8138160" cy="237744"/>
          </a:xfrm>
          <a:prstGeom prst="rect">
            <a:avLst/>
          </a:prstGeom>
          <a:noFill/>
          <a:ln/>
        </p:spPr>
        <p:txBody>
          <a:bodyPr wrap="square" rtlCol="0" anchor="ctr"/>
          <a:lstStyle/>
          <a:p>
            <a:pPr indent="0" marL="0">
              <a:buNone/>
            </a:pPr>
            <a:r>
              <a:rPr lang="en-US" sz="1100" spc="120" kern="0" dirty="0">
                <a:solidFill>
                  <a:srgbClr val="A68A55"/>
                </a:solidFill>
                <a:latin typeface="Bebas Neue" pitchFamily="34" charset="0"/>
                <a:ea typeface="Bebas Neue" pitchFamily="34" charset="-122"/>
                <a:cs typeface="Bebas Neue" pitchFamily="34" charset="-120"/>
              </a:rPr>
              <a:t>Acoustic Signal Analysis &amp; Trained Listener Frameworks</a:t>
            </a:r>
            <a:endParaRPr lang="en-US" sz="1100" dirty="0"/>
          </a:p>
        </p:txBody>
      </p:sp>
      <p:sp>
        <p:nvSpPr>
          <p:cNvPr id="10" name="Text 8"/>
          <p:cNvSpPr/>
          <p:nvPr/>
        </p:nvSpPr>
        <p:spPr>
          <a:xfrm>
            <a:off x="502920" y="2276856"/>
            <a:ext cx="8138160" cy="658368"/>
          </a:xfrm>
          <a:prstGeom prst="rect">
            <a:avLst/>
          </a:prstGeom>
          <a:noFill/>
          <a:ln/>
        </p:spPr>
        <p:txBody>
          <a:bodyPr wrap="square" rtlCol="0" anchor="ctr"/>
          <a:lstStyle/>
          <a:p>
            <a:pPr indent="0" marL="0">
              <a:lnSpc>
                <a:spcPts val="1700"/>
              </a:lnSpc>
              <a:buNone/>
            </a:pPr>
            <a:r>
              <a:rPr lang="en-US" sz="1250" dirty="0">
                <a:solidFill>
                  <a:srgbClr val="0B1E3A"/>
                </a:solidFill>
                <a:latin typeface="IBM Plex Mono" pitchFamily="34" charset="0"/>
                <a:ea typeface="IBM Plex Mono" pitchFamily="34" charset="-122"/>
                <a:cs typeface="IBM Plex Mono" pitchFamily="34" charset="-120"/>
              </a:rPr>
              <a:t>System integration of Schiller &amp; Koster (1998) methodologies, standardizing trained-listener verification loops to isolate micro-auditory variations, acoustic anomalies, and speech pattern anomalies.</a:t>
            </a:r>
            <a:endParaRPr lang="en-US" sz="1250" dirty="0"/>
          </a:p>
        </p:txBody>
      </p:sp>
      <p:sp>
        <p:nvSpPr>
          <p:cNvPr id="11" name="Shape 9"/>
          <p:cNvSpPr/>
          <p:nvPr/>
        </p:nvSpPr>
        <p:spPr>
          <a:xfrm>
            <a:off x="502920" y="2916936"/>
            <a:ext cx="8138160" cy="0"/>
          </a:xfrm>
          <a:prstGeom prst="line">
            <a:avLst/>
          </a:prstGeom>
          <a:noFill/>
          <a:ln w="9525">
            <a:solidFill>
              <a:srgbClr val="C9A96E"/>
            </a:solidFill>
            <a:prstDash val="solid"/>
          </a:ln>
        </p:spPr>
      </p:sp>
      <p:sp>
        <p:nvSpPr>
          <p:cNvPr id="12" name="Text 10"/>
          <p:cNvSpPr/>
          <p:nvPr/>
        </p:nvSpPr>
        <p:spPr>
          <a:xfrm>
            <a:off x="502920" y="3026664"/>
            <a:ext cx="8138160" cy="237744"/>
          </a:xfrm>
          <a:prstGeom prst="rect">
            <a:avLst/>
          </a:prstGeom>
          <a:noFill/>
          <a:ln/>
        </p:spPr>
        <p:txBody>
          <a:bodyPr wrap="square" rtlCol="0" anchor="ctr"/>
          <a:lstStyle/>
          <a:p>
            <a:pPr indent="0" marL="0">
              <a:buNone/>
            </a:pPr>
            <a:r>
              <a:rPr lang="en-US" sz="1100" spc="120" kern="0" dirty="0">
                <a:solidFill>
                  <a:srgbClr val="A68A55"/>
                </a:solidFill>
                <a:latin typeface="Bebas Neue" pitchFamily="34" charset="0"/>
                <a:ea typeface="Bebas Neue" pitchFamily="34" charset="-122"/>
                <a:cs typeface="Bebas Neue" pitchFamily="34" charset="-120"/>
              </a:rPr>
              <a:t>Psychological Stress Tracking &amp; Voice Security</a:t>
            </a:r>
            <a:endParaRPr lang="en-US" sz="1100" dirty="0"/>
          </a:p>
        </p:txBody>
      </p:sp>
      <p:sp>
        <p:nvSpPr>
          <p:cNvPr id="13" name="Text 11"/>
          <p:cNvSpPr/>
          <p:nvPr/>
        </p:nvSpPr>
        <p:spPr>
          <a:xfrm>
            <a:off x="502920" y="3264408"/>
            <a:ext cx="8138160" cy="777240"/>
          </a:xfrm>
          <a:prstGeom prst="rect">
            <a:avLst/>
          </a:prstGeom>
          <a:noFill/>
          <a:ln/>
        </p:spPr>
        <p:txBody>
          <a:bodyPr wrap="square" rtlCol="0" anchor="ctr"/>
          <a:lstStyle/>
          <a:p>
            <a:pPr indent="0" marL="0">
              <a:lnSpc>
                <a:spcPts val="1700"/>
              </a:lnSpc>
              <a:buNone/>
            </a:pPr>
            <a:r>
              <a:rPr lang="en-US" sz="1250" dirty="0">
                <a:solidFill>
                  <a:srgbClr val="0B1E3A"/>
                </a:solidFill>
                <a:latin typeface="IBM Plex Mono" pitchFamily="34" charset="0"/>
                <a:ea typeface="IBM Plex Mono" pitchFamily="34" charset="-122"/>
                <a:cs typeface="IBM Plex Mono" pitchFamily="34" charset="-120"/>
              </a:rPr>
              <a:t>Application of Acoustics of Crime parameters to track physiological stress signatures, frequency fluctuations, and sub-vocal indicators within voice streams. These parameters serve as the direct foundation for developing modern synthetic voice identification engines and deepfake detection software.</a:t>
            </a:r>
            <a:endParaRPr lang="en-US" sz="1250" dirty="0"/>
          </a:p>
        </p:txBody>
      </p:sp>
      <p:sp>
        <p:nvSpPr>
          <p:cNvPr id="14" name="Text 12"/>
          <p:cNvSpPr/>
          <p:nvPr/>
        </p:nvSpPr>
        <p:spPr>
          <a:xfrm>
            <a:off x="502920" y="4864608"/>
            <a:ext cx="6400800" cy="201168"/>
          </a:xfrm>
          <a:prstGeom prst="rect">
            <a:avLst/>
          </a:prstGeom>
          <a:noFill/>
          <a:ln/>
        </p:spPr>
        <p:txBody>
          <a:bodyPr wrap="square" rtlCol="0" anchor="ctr"/>
          <a:lstStyle/>
          <a:p>
            <a:pPr indent="0" marL="0">
              <a:buNone/>
            </a:pPr>
            <a:r>
              <a:rPr lang="en-US" sz="800" spc="150" kern="0" dirty="0">
                <a:solidFill>
                  <a:srgbClr val="A68A55"/>
                </a:solidFill>
                <a:latin typeface="IBM Plex Mono" pitchFamily="34" charset="0"/>
                <a:ea typeface="IBM Plex Mono" pitchFamily="34" charset="-122"/>
                <a:cs typeface="IBM Plex Mono" pitchFamily="34" charset="-120"/>
              </a:rPr>
              <a:t>AARON RAY  •  EXECUTIVE CREDENTIAL SYNTHESIS</a:t>
            </a:r>
            <a:endParaRPr lang="en-US" sz="800" dirty="0"/>
          </a:p>
        </p:txBody>
      </p:sp>
      <p:sp>
        <p:nvSpPr>
          <p:cNvPr id="15" name="Text 13"/>
          <p:cNvSpPr/>
          <p:nvPr/>
        </p:nvSpPr>
        <p:spPr>
          <a:xfrm>
            <a:off x="7498080" y="4864608"/>
            <a:ext cx="1188720" cy="201168"/>
          </a:xfrm>
          <a:prstGeom prst="rect">
            <a:avLst/>
          </a:prstGeom>
          <a:noFill/>
          <a:ln/>
        </p:spPr>
        <p:txBody>
          <a:bodyPr wrap="square" rtlCol="0" anchor="ctr"/>
          <a:lstStyle/>
          <a:p>
            <a:pPr algn="r" indent="0" marL="0">
              <a:buNone/>
            </a:pPr>
            <a:r>
              <a:rPr lang="en-US" sz="800" dirty="0">
                <a:solidFill>
                  <a:srgbClr val="A68A55"/>
                </a:solidFill>
                <a:latin typeface="IBM Plex Mono" pitchFamily="34" charset="0"/>
                <a:ea typeface="IBM Plex Mono" pitchFamily="34" charset="-122"/>
                <a:cs typeface="IBM Plex Mono" pitchFamily="34" charset="-120"/>
              </a:rPr>
              <a:t>03 / 06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96E"/>
          </a:solidFill>
          <a:ln w="12700">
            <a:solidFill>
              <a:srgbClr val="C9A96E"/>
            </a:solidFill>
            <a:prstDash val="solid"/>
          </a:ln>
        </p:spPr>
      </p:sp>
      <p:sp>
        <p:nvSpPr>
          <p:cNvPr id="3" name="Text 1"/>
          <p:cNvSpPr/>
          <p:nvPr/>
        </p:nvSpPr>
        <p:spPr>
          <a:xfrm>
            <a:off x="502920" y="320040"/>
            <a:ext cx="1097280" cy="502920"/>
          </a:xfrm>
          <a:prstGeom prst="rect">
            <a:avLst/>
          </a:prstGeom>
          <a:noFill/>
          <a:ln/>
        </p:spPr>
        <p:txBody>
          <a:bodyPr wrap="square" rtlCol="0" anchor="ctr"/>
          <a:lstStyle/>
          <a:p>
            <a:pPr indent="0" marL="0">
              <a:buNone/>
            </a:pPr>
            <a:r>
              <a:rPr lang="en-US" sz="3200" dirty="0">
                <a:solidFill>
                  <a:srgbClr val="C9A96E"/>
                </a:solidFill>
                <a:latin typeface="Bebas Neue" pitchFamily="34" charset="0"/>
                <a:ea typeface="Bebas Neue" pitchFamily="34" charset="-122"/>
                <a:cs typeface="Bebas Neue" pitchFamily="34" charset="-120"/>
              </a:rPr>
              <a:t>03</a:t>
            </a:r>
            <a:endParaRPr lang="en-US" sz="3200" dirty="0"/>
          </a:p>
        </p:txBody>
      </p:sp>
      <p:sp>
        <p:nvSpPr>
          <p:cNvPr id="4" name="Text 2"/>
          <p:cNvSpPr/>
          <p:nvPr/>
        </p:nvSpPr>
        <p:spPr>
          <a:xfrm>
            <a:off x="1417320" y="384048"/>
            <a:ext cx="7315200" cy="438912"/>
          </a:xfrm>
          <a:prstGeom prst="rect">
            <a:avLst/>
          </a:prstGeom>
          <a:noFill/>
          <a:ln/>
        </p:spPr>
        <p:txBody>
          <a:bodyPr wrap="square" rtlCol="0" anchor="ctr"/>
          <a:lstStyle/>
          <a:p>
            <a:pPr indent="0" marL="0">
              <a:buNone/>
            </a:pPr>
            <a:r>
              <a:rPr lang="en-US" sz="1800" spc="80" kern="0" dirty="0">
                <a:solidFill>
                  <a:srgbClr val="0B1E3A"/>
                </a:solidFill>
                <a:latin typeface="Bebas Neue" pitchFamily="34" charset="0"/>
                <a:ea typeface="Bebas Neue" pitchFamily="34" charset="-122"/>
                <a:cs typeface="Bebas Neue" pitchFamily="34" charset="-120"/>
              </a:rPr>
              <a:t>AI/ML TECHNICAL CREDENTIALS</a:t>
            </a:r>
            <a:endParaRPr lang="en-US" sz="1800" dirty="0"/>
          </a:p>
        </p:txBody>
      </p:sp>
      <p:sp>
        <p:nvSpPr>
          <p:cNvPr id="5" name="Shape 3"/>
          <p:cNvSpPr/>
          <p:nvPr/>
        </p:nvSpPr>
        <p:spPr>
          <a:xfrm>
            <a:off x="502920" y="896112"/>
            <a:ext cx="8138160" cy="0"/>
          </a:xfrm>
          <a:prstGeom prst="line">
            <a:avLst/>
          </a:prstGeom>
          <a:noFill/>
          <a:ln w="15875">
            <a:solidFill>
              <a:srgbClr val="C9A96E"/>
            </a:solidFill>
            <a:prstDash val="solid"/>
          </a:ln>
        </p:spPr>
      </p:sp>
      <p:sp>
        <p:nvSpPr>
          <p:cNvPr id="6" name="Text 4"/>
          <p:cNvSpPr/>
          <p:nvPr/>
        </p:nvSpPr>
        <p:spPr>
          <a:xfrm>
            <a:off x="502920" y="1051560"/>
            <a:ext cx="8138160" cy="237744"/>
          </a:xfrm>
          <a:prstGeom prst="rect">
            <a:avLst/>
          </a:prstGeom>
          <a:noFill/>
          <a:ln/>
        </p:spPr>
        <p:txBody>
          <a:bodyPr wrap="square" rtlCol="0" anchor="ctr"/>
          <a:lstStyle/>
          <a:p>
            <a:pPr indent="0" marL="0">
              <a:buNone/>
            </a:pPr>
            <a:r>
              <a:rPr lang="en-US" sz="1100" spc="120" kern="0" dirty="0">
                <a:solidFill>
                  <a:srgbClr val="A68A55"/>
                </a:solidFill>
                <a:latin typeface="Bebas Neue" pitchFamily="34" charset="0"/>
                <a:ea typeface="Bebas Neue" pitchFamily="34" charset="-122"/>
                <a:cs typeface="Bebas Neue" pitchFamily="34" charset="-120"/>
              </a:rPr>
              <a:t>Frontier Architectural Frameworks</a:t>
            </a:r>
            <a:endParaRPr lang="en-US" sz="1100" dirty="0"/>
          </a:p>
        </p:txBody>
      </p:sp>
      <p:sp>
        <p:nvSpPr>
          <p:cNvPr id="7" name="Text 5"/>
          <p:cNvSpPr/>
          <p:nvPr/>
        </p:nvSpPr>
        <p:spPr>
          <a:xfrm>
            <a:off x="502920" y="1289304"/>
            <a:ext cx="8138160" cy="713232"/>
          </a:xfrm>
          <a:prstGeom prst="rect">
            <a:avLst/>
          </a:prstGeom>
          <a:noFill/>
          <a:ln/>
        </p:spPr>
        <p:txBody>
          <a:bodyPr wrap="square" rtlCol="0" anchor="ctr"/>
          <a:lstStyle/>
          <a:p>
            <a:pPr indent="0" marL="0">
              <a:lnSpc>
                <a:spcPts val="1700"/>
              </a:lnSpc>
              <a:buNone/>
            </a:pPr>
            <a:r>
              <a:rPr lang="en-US" sz="1250" dirty="0">
                <a:solidFill>
                  <a:srgbClr val="0B1E3A"/>
                </a:solidFill>
                <a:latin typeface="IBM Plex Mono" pitchFamily="34" charset="0"/>
                <a:ea typeface="IBM Plex Mono" pitchFamily="34" charset="-122"/>
                <a:cs typeface="IBM Plex Mono" pitchFamily="34" charset="-120"/>
              </a:rPr>
              <a:t>Direct technical proficiency across machine learning models and frameworks, encompassing early implementations in TensorFlow and YOLOv3 object detection environments, alongside deep data tuning inside advanced natural language processing architectures.</a:t>
            </a:r>
            <a:endParaRPr lang="en-US" sz="1250" dirty="0"/>
          </a:p>
        </p:txBody>
      </p:sp>
      <p:sp>
        <p:nvSpPr>
          <p:cNvPr id="8" name="Shape 6"/>
          <p:cNvSpPr/>
          <p:nvPr/>
        </p:nvSpPr>
        <p:spPr>
          <a:xfrm>
            <a:off x="502920" y="1965960"/>
            <a:ext cx="8138160" cy="0"/>
          </a:xfrm>
          <a:prstGeom prst="line">
            <a:avLst/>
          </a:prstGeom>
          <a:noFill/>
          <a:ln w="9525">
            <a:solidFill>
              <a:srgbClr val="C9A96E"/>
            </a:solidFill>
            <a:prstDash val="solid"/>
          </a:ln>
        </p:spPr>
      </p:sp>
      <p:sp>
        <p:nvSpPr>
          <p:cNvPr id="9" name="Text 7"/>
          <p:cNvSpPr/>
          <p:nvPr/>
        </p:nvSpPr>
        <p:spPr>
          <a:xfrm>
            <a:off x="502920" y="2093976"/>
            <a:ext cx="8138160" cy="237744"/>
          </a:xfrm>
          <a:prstGeom prst="rect">
            <a:avLst/>
          </a:prstGeom>
          <a:noFill/>
          <a:ln/>
        </p:spPr>
        <p:txBody>
          <a:bodyPr wrap="square" rtlCol="0" anchor="ctr"/>
          <a:lstStyle/>
          <a:p>
            <a:pPr indent="0" marL="0">
              <a:buNone/>
            </a:pPr>
            <a:r>
              <a:rPr lang="en-US" sz="1100" spc="120" kern="0" dirty="0">
                <a:solidFill>
                  <a:srgbClr val="A68A55"/>
                </a:solidFill>
                <a:latin typeface="Bebas Neue" pitchFamily="34" charset="0"/>
                <a:ea typeface="Bebas Neue" pitchFamily="34" charset="-122"/>
                <a:cs typeface="Bebas Neue" pitchFamily="34" charset="-120"/>
              </a:rPr>
              <a:t>Generative Music &amp; Audio Networks</a:t>
            </a:r>
            <a:endParaRPr lang="en-US" sz="1100" dirty="0"/>
          </a:p>
        </p:txBody>
      </p:sp>
      <p:sp>
        <p:nvSpPr>
          <p:cNvPr id="10" name="Text 8"/>
          <p:cNvSpPr/>
          <p:nvPr/>
        </p:nvSpPr>
        <p:spPr>
          <a:xfrm>
            <a:off x="502920" y="2331720"/>
            <a:ext cx="8138160" cy="713232"/>
          </a:xfrm>
          <a:prstGeom prst="rect">
            <a:avLst/>
          </a:prstGeom>
          <a:noFill/>
          <a:ln/>
        </p:spPr>
        <p:txBody>
          <a:bodyPr wrap="square" rtlCol="0" anchor="ctr"/>
          <a:lstStyle/>
          <a:p>
            <a:pPr indent="0" marL="0">
              <a:lnSpc>
                <a:spcPts val="1700"/>
              </a:lnSpc>
              <a:buNone/>
            </a:pPr>
            <a:r>
              <a:rPr lang="en-US" sz="1250" dirty="0">
                <a:solidFill>
                  <a:srgbClr val="0B1E3A"/>
                </a:solidFill>
                <a:latin typeface="IBM Plex Mono" pitchFamily="34" charset="0"/>
                <a:ea typeface="IBM Plex Mono" pitchFamily="34" charset="-122"/>
                <a:cs typeface="IBM Plex Mono" pitchFamily="34" charset="-120"/>
              </a:rPr>
              <a:t>Technical execution tracking across advanced neural audio generation pipelines, including Google's Magenta platform, OpenAI Jukebox architectures, and digital acoustic sequence engines like EarSketch.</a:t>
            </a:r>
            <a:endParaRPr lang="en-US" sz="1250" dirty="0"/>
          </a:p>
        </p:txBody>
      </p:sp>
      <p:sp>
        <p:nvSpPr>
          <p:cNvPr id="11" name="Shape 9"/>
          <p:cNvSpPr/>
          <p:nvPr/>
        </p:nvSpPr>
        <p:spPr>
          <a:xfrm>
            <a:off x="502920" y="3008376"/>
            <a:ext cx="8138160" cy="0"/>
          </a:xfrm>
          <a:prstGeom prst="line">
            <a:avLst/>
          </a:prstGeom>
          <a:noFill/>
          <a:ln w="9525">
            <a:solidFill>
              <a:srgbClr val="C9A96E"/>
            </a:solidFill>
            <a:prstDash val="solid"/>
          </a:ln>
        </p:spPr>
      </p:sp>
      <p:sp>
        <p:nvSpPr>
          <p:cNvPr id="12" name="Text 10"/>
          <p:cNvSpPr/>
          <p:nvPr/>
        </p:nvSpPr>
        <p:spPr>
          <a:xfrm>
            <a:off x="502920" y="3136392"/>
            <a:ext cx="8138160" cy="237744"/>
          </a:xfrm>
          <a:prstGeom prst="rect">
            <a:avLst/>
          </a:prstGeom>
          <a:noFill/>
          <a:ln/>
        </p:spPr>
        <p:txBody>
          <a:bodyPr wrap="square" rtlCol="0" anchor="ctr"/>
          <a:lstStyle/>
          <a:p>
            <a:pPr indent="0" marL="0">
              <a:buNone/>
            </a:pPr>
            <a:r>
              <a:rPr lang="en-US" sz="1100" spc="120" kern="0" dirty="0">
                <a:solidFill>
                  <a:srgbClr val="A68A55"/>
                </a:solidFill>
                <a:latin typeface="Bebas Neue" pitchFamily="34" charset="0"/>
                <a:ea typeface="Bebas Neue" pitchFamily="34" charset="-122"/>
                <a:cs typeface="Bebas Neue" pitchFamily="34" charset="-120"/>
              </a:rPr>
              <a:t>Specialized Deep Learning Credentials</a:t>
            </a:r>
            <a:endParaRPr lang="en-US" sz="1100" dirty="0"/>
          </a:p>
        </p:txBody>
      </p:sp>
      <p:sp>
        <p:nvSpPr>
          <p:cNvPr id="13" name="Text 11"/>
          <p:cNvSpPr/>
          <p:nvPr/>
        </p:nvSpPr>
        <p:spPr>
          <a:xfrm>
            <a:off x="502920" y="3374136"/>
            <a:ext cx="8138160" cy="713232"/>
          </a:xfrm>
          <a:prstGeom prst="rect">
            <a:avLst/>
          </a:prstGeom>
          <a:noFill/>
          <a:ln/>
        </p:spPr>
        <p:txBody>
          <a:bodyPr wrap="square" rtlCol="0" anchor="ctr"/>
          <a:lstStyle/>
          <a:p>
            <a:pPr indent="0" marL="0">
              <a:lnSpc>
                <a:spcPts val="1700"/>
              </a:lnSpc>
              <a:buNone/>
            </a:pPr>
            <a:r>
              <a:rPr lang="en-US" sz="1250" dirty="0">
                <a:solidFill>
                  <a:srgbClr val="0B1E3A"/>
                </a:solidFill>
                <a:latin typeface="IBM Plex Mono" pitchFamily="34" charset="0"/>
                <a:ea typeface="IBM Plex Mono" pitchFamily="34" charset="-122"/>
                <a:cs typeface="IBM Plex Mono" pitchFamily="34" charset="-120"/>
              </a:rPr>
              <a:t>Academic and practical training certifications in deep learning, sequence modeling, and natural language processing architectures from leading research institutions, including Johns Hopkins University and the University of Michigan.</a:t>
            </a:r>
            <a:endParaRPr lang="en-US" sz="1250" dirty="0"/>
          </a:p>
        </p:txBody>
      </p:sp>
      <p:sp>
        <p:nvSpPr>
          <p:cNvPr id="14" name="Text 12"/>
          <p:cNvSpPr/>
          <p:nvPr/>
        </p:nvSpPr>
        <p:spPr>
          <a:xfrm>
            <a:off x="502920" y="4864608"/>
            <a:ext cx="6400800" cy="201168"/>
          </a:xfrm>
          <a:prstGeom prst="rect">
            <a:avLst/>
          </a:prstGeom>
          <a:noFill/>
          <a:ln/>
        </p:spPr>
        <p:txBody>
          <a:bodyPr wrap="square" rtlCol="0" anchor="ctr"/>
          <a:lstStyle/>
          <a:p>
            <a:pPr indent="0" marL="0">
              <a:buNone/>
            </a:pPr>
            <a:r>
              <a:rPr lang="en-US" sz="800" spc="150" kern="0" dirty="0">
                <a:solidFill>
                  <a:srgbClr val="A68A55"/>
                </a:solidFill>
                <a:latin typeface="IBM Plex Mono" pitchFamily="34" charset="0"/>
                <a:ea typeface="IBM Plex Mono" pitchFamily="34" charset="-122"/>
                <a:cs typeface="IBM Plex Mono" pitchFamily="34" charset="-120"/>
              </a:rPr>
              <a:t>AARON RAY  •  EXECUTIVE CREDENTIAL SYNTHESIS</a:t>
            </a:r>
            <a:endParaRPr lang="en-US" sz="800" dirty="0"/>
          </a:p>
        </p:txBody>
      </p:sp>
      <p:sp>
        <p:nvSpPr>
          <p:cNvPr id="15" name="Text 13"/>
          <p:cNvSpPr/>
          <p:nvPr/>
        </p:nvSpPr>
        <p:spPr>
          <a:xfrm>
            <a:off x="7498080" y="4864608"/>
            <a:ext cx="1188720" cy="201168"/>
          </a:xfrm>
          <a:prstGeom prst="rect">
            <a:avLst/>
          </a:prstGeom>
          <a:noFill/>
          <a:ln/>
        </p:spPr>
        <p:txBody>
          <a:bodyPr wrap="square" rtlCol="0" anchor="ctr"/>
          <a:lstStyle/>
          <a:p>
            <a:pPr algn="r" indent="0" marL="0">
              <a:buNone/>
            </a:pPr>
            <a:r>
              <a:rPr lang="en-US" sz="800" dirty="0">
                <a:solidFill>
                  <a:srgbClr val="A68A55"/>
                </a:solidFill>
                <a:latin typeface="IBM Plex Mono" pitchFamily="34" charset="0"/>
                <a:ea typeface="IBM Plex Mono" pitchFamily="34" charset="-122"/>
                <a:cs typeface="IBM Plex Mono" pitchFamily="34" charset="-120"/>
              </a:rPr>
              <a:t>04 / 06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96E"/>
          </a:solidFill>
          <a:ln w="12700">
            <a:solidFill>
              <a:srgbClr val="C9A96E"/>
            </a:solidFill>
            <a:prstDash val="solid"/>
          </a:ln>
        </p:spPr>
      </p:sp>
      <p:sp>
        <p:nvSpPr>
          <p:cNvPr id="3" name="Text 1"/>
          <p:cNvSpPr/>
          <p:nvPr/>
        </p:nvSpPr>
        <p:spPr>
          <a:xfrm>
            <a:off x="502920" y="256032"/>
            <a:ext cx="1097280" cy="438912"/>
          </a:xfrm>
          <a:prstGeom prst="rect">
            <a:avLst/>
          </a:prstGeom>
          <a:noFill/>
          <a:ln/>
        </p:spPr>
        <p:txBody>
          <a:bodyPr wrap="square" rtlCol="0" anchor="ctr"/>
          <a:lstStyle/>
          <a:p>
            <a:pPr indent="0" marL="0">
              <a:buNone/>
            </a:pPr>
            <a:r>
              <a:rPr lang="en-US" sz="2800" dirty="0">
                <a:solidFill>
                  <a:srgbClr val="C9A96E"/>
                </a:solidFill>
                <a:latin typeface="Bebas Neue" pitchFamily="34" charset="0"/>
                <a:ea typeface="Bebas Neue" pitchFamily="34" charset="-122"/>
                <a:cs typeface="Bebas Neue" pitchFamily="34" charset="-120"/>
              </a:rPr>
              <a:t>04</a:t>
            </a:r>
            <a:endParaRPr lang="en-US" sz="2800" dirty="0"/>
          </a:p>
        </p:txBody>
      </p:sp>
      <p:sp>
        <p:nvSpPr>
          <p:cNvPr id="4" name="Text 2"/>
          <p:cNvSpPr/>
          <p:nvPr/>
        </p:nvSpPr>
        <p:spPr>
          <a:xfrm>
            <a:off x="1417320" y="292608"/>
            <a:ext cx="7315200" cy="384048"/>
          </a:xfrm>
          <a:prstGeom prst="rect">
            <a:avLst/>
          </a:prstGeom>
          <a:noFill/>
          <a:ln/>
        </p:spPr>
        <p:txBody>
          <a:bodyPr wrap="square" rtlCol="0" anchor="ctr"/>
          <a:lstStyle/>
          <a:p>
            <a:pPr indent="0" marL="0">
              <a:buNone/>
            </a:pPr>
            <a:r>
              <a:rPr lang="en-US" sz="1600" spc="60" kern="0" dirty="0">
                <a:solidFill>
                  <a:srgbClr val="0B1E3A"/>
                </a:solidFill>
                <a:latin typeface="Bebas Neue" pitchFamily="34" charset="0"/>
                <a:ea typeface="Bebas Neue" pitchFamily="34" charset="-122"/>
                <a:cs typeface="Bebas Neue" pitchFamily="34" charset="-120"/>
              </a:rPr>
              <a:t>THE ARTIFICIAL SENSES FRAMEWORK</a:t>
            </a:r>
            <a:endParaRPr lang="en-US" sz="1600" dirty="0"/>
          </a:p>
        </p:txBody>
      </p:sp>
      <p:sp>
        <p:nvSpPr>
          <p:cNvPr id="5" name="Shape 3"/>
          <p:cNvSpPr/>
          <p:nvPr/>
        </p:nvSpPr>
        <p:spPr>
          <a:xfrm>
            <a:off x="502920" y="749808"/>
            <a:ext cx="8138160" cy="0"/>
          </a:xfrm>
          <a:prstGeom prst="line">
            <a:avLst/>
          </a:prstGeom>
          <a:noFill/>
          <a:ln w="15875">
            <a:solidFill>
              <a:srgbClr val="C9A96E"/>
            </a:solidFill>
            <a:prstDash val="solid"/>
          </a:ln>
        </p:spPr>
      </p:sp>
      <p:sp>
        <p:nvSpPr>
          <p:cNvPr id="6" name="Shape 4"/>
          <p:cNvSpPr/>
          <p:nvPr/>
        </p:nvSpPr>
        <p:spPr>
          <a:xfrm>
            <a:off x="502920" y="896112"/>
            <a:ext cx="8138160" cy="658368"/>
          </a:xfrm>
          <a:prstGeom prst="rect">
            <a:avLst/>
          </a:prstGeom>
          <a:solidFill>
            <a:srgbClr val="EDE8DC"/>
          </a:solidFill>
          <a:ln w="9525">
            <a:solidFill>
              <a:srgbClr val="C9A96E"/>
            </a:solidFill>
            <a:prstDash val="solid"/>
          </a:ln>
        </p:spPr>
      </p:sp>
      <p:sp>
        <p:nvSpPr>
          <p:cNvPr id="7" name="Text 5"/>
          <p:cNvSpPr/>
          <p:nvPr/>
        </p:nvSpPr>
        <p:spPr>
          <a:xfrm>
            <a:off x="640080" y="941832"/>
            <a:ext cx="7863840" cy="201168"/>
          </a:xfrm>
          <a:prstGeom prst="rect">
            <a:avLst/>
          </a:prstGeom>
          <a:noFill/>
          <a:ln/>
        </p:spPr>
        <p:txBody>
          <a:bodyPr wrap="square" rtlCol="0" anchor="ctr"/>
          <a:lstStyle/>
          <a:p>
            <a:pPr indent="0" marL="0">
              <a:buNone/>
            </a:pPr>
            <a:r>
              <a:rPr lang="en-US" sz="900" spc="150" kern="0" dirty="0">
                <a:solidFill>
                  <a:srgbClr val="A68A55"/>
                </a:solidFill>
                <a:latin typeface="Bebas Neue" pitchFamily="34" charset="0"/>
                <a:ea typeface="Bebas Neue" pitchFamily="34" charset="-122"/>
                <a:cs typeface="Bebas Neue" pitchFamily="34" charset="-120"/>
              </a:rPr>
              <a:t>Core Thesis</a:t>
            </a:r>
            <a:endParaRPr lang="en-US" sz="900" dirty="0"/>
          </a:p>
        </p:txBody>
      </p:sp>
      <p:sp>
        <p:nvSpPr>
          <p:cNvPr id="8" name="Text 6"/>
          <p:cNvSpPr/>
          <p:nvPr/>
        </p:nvSpPr>
        <p:spPr>
          <a:xfrm>
            <a:off x="640080" y="1133856"/>
            <a:ext cx="7863840" cy="384048"/>
          </a:xfrm>
          <a:prstGeom prst="rect">
            <a:avLst/>
          </a:prstGeom>
          <a:noFill/>
          <a:ln/>
        </p:spPr>
        <p:txBody>
          <a:bodyPr wrap="square" rtlCol="0" anchor="ctr"/>
          <a:lstStyle/>
          <a:p>
            <a:pPr indent="0" marL="0">
              <a:lnSpc>
                <a:spcPts val="1500"/>
              </a:lnSpc>
              <a:buNone/>
            </a:pPr>
            <a:r>
              <a:rPr lang="en-US" sz="1150" i="1" dirty="0">
                <a:solidFill>
                  <a:srgbClr val="0B1E3A"/>
                </a:solidFill>
                <a:latin typeface="IBM Plex Mono" pitchFamily="34" charset="0"/>
                <a:ea typeface="IBM Plex Mono" pitchFamily="34" charset="-122"/>
                <a:cs typeface="IBM Plex Mono" pitchFamily="34" charset="-120"/>
              </a:rPr>
              <a:t>Artificial Senses is the use of technology to augment, measure, and regulate human emotional and perceptual response—across therapeutic, legal, and entertainment domains.</a:t>
            </a:r>
            <a:endParaRPr lang="en-US" sz="1150" dirty="0"/>
          </a:p>
        </p:txBody>
      </p:sp>
      <p:sp>
        <p:nvSpPr>
          <p:cNvPr id="9" name="Text 7"/>
          <p:cNvSpPr/>
          <p:nvPr/>
        </p:nvSpPr>
        <p:spPr>
          <a:xfrm>
            <a:off x="502920" y="1719072"/>
            <a:ext cx="3886200" cy="182880"/>
          </a:xfrm>
          <a:prstGeom prst="rect">
            <a:avLst/>
          </a:prstGeom>
          <a:noFill/>
          <a:ln/>
        </p:spPr>
        <p:txBody>
          <a:bodyPr wrap="square" rtlCol="0" anchor="ctr"/>
          <a:lstStyle/>
          <a:p>
            <a:pPr indent="0" marL="0">
              <a:buNone/>
            </a:pPr>
            <a:r>
              <a:rPr lang="en-US" sz="800" spc="180" kern="0" dirty="0">
                <a:solidFill>
                  <a:srgbClr val="A68A55"/>
                </a:solidFill>
                <a:latin typeface="IBM Plex Mono" pitchFamily="34" charset="0"/>
                <a:ea typeface="IBM Plex Mono" pitchFamily="34" charset="-122"/>
                <a:cs typeface="IBM Plex Mono" pitchFamily="34" charset="-120"/>
              </a:rPr>
              <a:t>PILLAR I</a:t>
            </a:r>
            <a:endParaRPr lang="en-US" sz="800" dirty="0"/>
          </a:p>
        </p:txBody>
      </p:sp>
      <p:sp>
        <p:nvSpPr>
          <p:cNvPr id="10" name="Text 8"/>
          <p:cNvSpPr/>
          <p:nvPr/>
        </p:nvSpPr>
        <p:spPr>
          <a:xfrm>
            <a:off x="502920" y="1901952"/>
            <a:ext cx="3886200" cy="237744"/>
          </a:xfrm>
          <a:prstGeom prst="rect">
            <a:avLst/>
          </a:prstGeom>
          <a:noFill/>
          <a:ln/>
        </p:spPr>
        <p:txBody>
          <a:bodyPr wrap="square" rtlCol="0" anchor="ctr"/>
          <a:lstStyle/>
          <a:p>
            <a:pPr indent="0" marL="0">
              <a:buNone/>
            </a:pPr>
            <a:r>
              <a:rPr lang="en-US" sz="1100" spc="50" kern="0" dirty="0">
                <a:solidFill>
                  <a:srgbClr val="0B1E3A"/>
                </a:solidFill>
                <a:latin typeface="Bebas Neue" pitchFamily="34" charset="0"/>
                <a:ea typeface="Bebas Neue" pitchFamily="34" charset="-122"/>
                <a:cs typeface="Bebas Neue" pitchFamily="34" charset="-120"/>
              </a:rPr>
              <a:t>MUSIC AS MEDICINE</a:t>
            </a:r>
            <a:endParaRPr lang="en-US" sz="1100" dirty="0"/>
          </a:p>
        </p:txBody>
      </p:sp>
      <p:sp>
        <p:nvSpPr>
          <p:cNvPr id="11" name="Shape 9"/>
          <p:cNvSpPr/>
          <p:nvPr/>
        </p:nvSpPr>
        <p:spPr>
          <a:xfrm>
            <a:off x="502920" y="2157984"/>
            <a:ext cx="3794760" cy="0"/>
          </a:xfrm>
          <a:prstGeom prst="line">
            <a:avLst/>
          </a:prstGeom>
          <a:noFill/>
          <a:ln w="7620">
            <a:solidFill>
              <a:srgbClr val="C9A96E"/>
            </a:solidFill>
            <a:prstDash val="solid"/>
          </a:ln>
        </p:spPr>
      </p:sp>
      <p:sp>
        <p:nvSpPr>
          <p:cNvPr id="12" name="Text 10"/>
          <p:cNvSpPr/>
          <p:nvPr/>
        </p:nvSpPr>
        <p:spPr>
          <a:xfrm>
            <a:off x="502920" y="2231136"/>
            <a:ext cx="3794760" cy="841248"/>
          </a:xfrm>
          <a:prstGeom prst="rect">
            <a:avLst/>
          </a:prstGeom>
          <a:noFill/>
          <a:ln/>
        </p:spPr>
        <p:txBody>
          <a:bodyPr wrap="square" rtlCol="0" anchor="ctr"/>
          <a:lstStyle/>
          <a:p>
            <a:pPr indent="0" marL="0">
              <a:lnSpc>
                <a:spcPts val="1400"/>
              </a:lnSpc>
              <a:buNone/>
            </a:pPr>
            <a:r>
              <a:rPr lang="en-US" sz="1050" dirty="0">
                <a:solidFill>
                  <a:srgbClr val="0B1E3A"/>
                </a:solidFill>
                <a:latin typeface="IBM Plex Mono" pitchFamily="34" charset="0"/>
                <a:ea typeface="IBM Plex Mono" pitchFamily="34" charset="-122"/>
                <a:cs typeface="IBM Plex Mono" pitchFamily="34" charset="-120"/>
              </a:rPr>
              <a:t>Engineering non-pharmacological behavioral regulation loops using targeted acoustic patterns and structured audio environments to manage attention and sensory processing, serving as a non-chemical intervention model for pediatric ADHD populations.</a:t>
            </a:r>
            <a:endParaRPr lang="en-US" sz="1050" dirty="0"/>
          </a:p>
        </p:txBody>
      </p:sp>
      <p:sp>
        <p:nvSpPr>
          <p:cNvPr id="13" name="Text 11"/>
          <p:cNvSpPr/>
          <p:nvPr/>
        </p:nvSpPr>
        <p:spPr>
          <a:xfrm>
            <a:off x="4572000" y="1719072"/>
            <a:ext cx="3886200" cy="182880"/>
          </a:xfrm>
          <a:prstGeom prst="rect">
            <a:avLst/>
          </a:prstGeom>
          <a:noFill/>
          <a:ln/>
        </p:spPr>
        <p:txBody>
          <a:bodyPr wrap="square" rtlCol="0" anchor="ctr"/>
          <a:lstStyle/>
          <a:p>
            <a:pPr indent="0" marL="0">
              <a:buNone/>
            </a:pPr>
            <a:r>
              <a:rPr lang="en-US" sz="800" spc="180" kern="0" dirty="0">
                <a:solidFill>
                  <a:srgbClr val="A68A55"/>
                </a:solidFill>
                <a:latin typeface="IBM Plex Mono" pitchFamily="34" charset="0"/>
                <a:ea typeface="IBM Plex Mono" pitchFamily="34" charset="-122"/>
                <a:cs typeface="IBM Plex Mono" pitchFamily="34" charset="-120"/>
              </a:rPr>
              <a:t>PILLAR II</a:t>
            </a:r>
            <a:endParaRPr lang="en-US" sz="800" dirty="0"/>
          </a:p>
        </p:txBody>
      </p:sp>
      <p:sp>
        <p:nvSpPr>
          <p:cNvPr id="14" name="Text 12"/>
          <p:cNvSpPr/>
          <p:nvPr/>
        </p:nvSpPr>
        <p:spPr>
          <a:xfrm>
            <a:off x="4572000" y="1901952"/>
            <a:ext cx="3886200" cy="237744"/>
          </a:xfrm>
          <a:prstGeom prst="rect">
            <a:avLst/>
          </a:prstGeom>
          <a:noFill/>
          <a:ln/>
        </p:spPr>
        <p:txBody>
          <a:bodyPr wrap="square" rtlCol="0" anchor="ctr"/>
          <a:lstStyle/>
          <a:p>
            <a:pPr indent="0" marL="0">
              <a:buNone/>
            </a:pPr>
            <a:r>
              <a:rPr lang="en-US" sz="1100" spc="50" kern="0" dirty="0">
                <a:solidFill>
                  <a:srgbClr val="0B1E3A"/>
                </a:solidFill>
                <a:latin typeface="Bebas Neue" pitchFamily="34" charset="0"/>
                <a:ea typeface="Bebas Neue" pitchFamily="34" charset="-122"/>
                <a:cs typeface="Bebas Neue" pitchFamily="34" charset="-120"/>
              </a:rPr>
              <a:t>JUDICIAL ANALYTICS</a:t>
            </a:r>
            <a:endParaRPr lang="en-US" sz="1100" dirty="0"/>
          </a:p>
        </p:txBody>
      </p:sp>
      <p:sp>
        <p:nvSpPr>
          <p:cNvPr id="15" name="Shape 13"/>
          <p:cNvSpPr/>
          <p:nvPr/>
        </p:nvSpPr>
        <p:spPr>
          <a:xfrm>
            <a:off x="4572000" y="2157984"/>
            <a:ext cx="3794760" cy="0"/>
          </a:xfrm>
          <a:prstGeom prst="line">
            <a:avLst/>
          </a:prstGeom>
          <a:noFill/>
          <a:ln w="7620">
            <a:solidFill>
              <a:srgbClr val="C9A96E"/>
            </a:solidFill>
            <a:prstDash val="solid"/>
          </a:ln>
        </p:spPr>
      </p:sp>
      <p:sp>
        <p:nvSpPr>
          <p:cNvPr id="16" name="Text 14"/>
          <p:cNvSpPr/>
          <p:nvPr/>
        </p:nvSpPr>
        <p:spPr>
          <a:xfrm>
            <a:off x="4572000" y="2231136"/>
            <a:ext cx="3794760" cy="841248"/>
          </a:xfrm>
          <a:prstGeom prst="rect">
            <a:avLst/>
          </a:prstGeom>
          <a:noFill/>
          <a:ln/>
        </p:spPr>
        <p:txBody>
          <a:bodyPr wrap="square" rtlCol="0" anchor="ctr"/>
          <a:lstStyle/>
          <a:p>
            <a:pPr indent="0" marL="0">
              <a:lnSpc>
                <a:spcPts val="1400"/>
              </a:lnSpc>
              <a:buNone/>
            </a:pPr>
            <a:r>
              <a:rPr lang="en-US" sz="1050" dirty="0">
                <a:solidFill>
                  <a:srgbClr val="0B1E3A"/>
                </a:solidFill>
                <a:latin typeface="IBM Plex Mono" pitchFamily="34" charset="0"/>
                <a:ea typeface="IBM Plex Mono" pitchFamily="34" charset="-122"/>
                <a:cs typeface="IBM Plex Mono" pitchFamily="34" charset="-120"/>
              </a:rPr>
              <a:t>Processing and mapping public behavioral signals, structural micro-expressions, and linguistic patterns from legal decision-makers to decode cognitive biases and predict systemic litigation outcomes.</a:t>
            </a:r>
            <a:endParaRPr lang="en-US" sz="1050" dirty="0"/>
          </a:p>
        </p:txBody>
      </p:sp>
      <p:sp>
        <p:nvSpPr>
          <p:cNvPr id="17" name="Text 15"/>
          <p:cNvSpPr/>
          <p:nvPr/>
        </p:nvSpPr>
        <p:spPr>
          <a:xfrm>
            <a:off x="502920" y="3182112"/>
            <a:ext cx="3886200" cy="182880"/>
          </a:xfrm>
          <a:prstGeom prst="rect">
            <a:avLst/>
          </a:prstGeom>
          <a:noFill/>
          <a:ln/>
        </p:spPr>
        <p:txBody>
          <a:bodyPr wrap="square" rtlCol="0" anchor="ctr"/>
          <a:lstStyle/>
          <a:p>
            <a:pPr indent="0" marL="0">
              <a:buNone/>
            </a:pPr>
            <a:r>
              <a:rPr lang="en-US" sz="800" spc="180" kern="0" dirty="0">
                <a:solidFill>
                  <a:srgbClr val="A68A55"/>
                </a:solidFill>
                <a:latin typeface="IBM Plex Mono" pitchFamily="34" charset="0"/>
                <a:ea typeface="IBM Plex Mono" pitchFamily="34" charset="-122"/>
                <a:cs typeface="IBM Plex Mono" pitchFamily="34" charset="-120"/>
              </a:rPr>
              <a:t>PILLAR III</a:t>
            </a:r>
            <a:endParaRPr lang="en-US" sz="800" dirty="0"/>
          </a:p>
        </p:txBody>
      </p:sp>
      <p:sp>
        <p:nvSpPr>
          <p:cNvPr id="18" name="Text 16"/>
          <p:cNvSpPr/>
          <p:nvPr/>
        </p:nvSpPr>
        <p:spPr>
          <a:xfrm>
            <a:off x="502920" y="3364992"/>
            <a:ext cx="3886200" cy="237744"/>
          </a:xfrm>
          <a:prstGeom prst="rect">
            <a:avLst/>
          </a:prstGeom>
          <a:noFill/>
          <a:ln/>
        </p:spPr>
        <p:txBody>
          <a:bodyPr wrap="square" rtlCol="0" anchor="ctr"/>
          <a:lstStyle/>
          <a:p>
            <a:pPr indent="0" marL="0">
              <a:buNone/>
            </a:pPr>
            <a:r>
              <a:rPr lang="en-US" sz="1100" spc="50" kern="0" dirty="0">
                <a:solidFill>
                  <a:srgbClr val="0B1E3A"/>
                </a:solidFill>
                <a:latin typeface="Bebas Neue" pitchFamily="34" charset="0"/>
                <a:ea typeface="Bebas Neue" pitchFamily="34" charset="-122"/>
                <a:cs typeface="Bebas Neue" pitchFamily="34" charset="-120"/>
              </a:rPr>
              <a:t>FORENSIC AUTHENTICATION</a:t>
            </a:r>
            <a:endParaRPr lang="en-US" sz="1100" dirty="0"/>
          </a:p>
        </p:txBody>
      </p:sp>
      <p:sp>
        <p:nvSpPr>
          <p:cNvPr id="19" name="Shape 17"/>
          <p:cNvSpPr/>
          <p:nvPr/>
        </p:nvSpPr>
        <p:spPr>
          <a:xfrm>
            <a:off x="502920" y="3621024"/>
            <a:ext cx="3794760" cy="0"/>
          </a:xfrm>
          <a:prstGeom prst="line">
            <a:avLst/>
          </a:prstGeom>
          <a:noFill/>
          <a:ln w="7620">
            <a:solidFill>
              <a:srgbClr val="C9A96E"/>
            </a:solidFill>
            <a:prstDash val="solid"/>
          </a:ln>
        </p:spPr>
      </p:sp>
      <p:sp>
        <p:nvSpPr>
          <p:cNvPr id="20" name="Text 18"/>
          <p:cNvSpPr/>
          <p:nvPr/>
        </p:nvSpPr>
        <p:spPr>
          <a:xfrm>
            <a:off x="502920" y="3694176"/>
            <a:ext cx="3794760" cy="841248"/>
          </a:xfrm>
          <a:prstGeom prst="rect">
            <a:avLst/>
          </a:prstGeom>
          <a:noFill/>
          <a:ln/>
        </p:spPr>
        <p:txBody>
          <a:bodyPr wrap="square" rtlCol="0" anchor="ctr"/>
          <a:lstStyle/>
          <a:p>
            <a:pPr indent="0" marL="0">
              <a:lnSpc>
                <a:spcPts val="1400"/>
              </a:lnSpc>
              <a:buNone/>
            </a:pPr>
            <a:r>
              <a:rPr lang="en-US" sz="1050" dirty="0">
                <a:solidFill>
                  <a:srgbClr val="0B1E3A"/>
                </a:solidFill>
                <a:latin typeface="IBM Plex Mono" pitchFamily="34" charset="0"/>
                <a:ea typeface="IBM Plex Mono" pitchFamily="34" charset="-122"/>
                <a:cs typeface="IBM Plex Mono" pitchFamily="34" charset="-120"/>
              </a:rPr>
              <a:t>Building robust, automated verification workflows that leverage multi-modal models to flag synthetic media generation, verify metadata, and preserve evidentiary integrity.</a:t>
            </a:r>
            <a:endParaRPr lang="en-US" sz="1050" dirty="0"/>
          </a:p>
        </p:txBody>
      </p:sp>
      <p:sp>
        <p:nvSpPr>
          <p:cNvPr id="21" name="Text 19"/>
          <p:cNvSpPr/>
          <p:nvPr/>
        </p:nvSpPr>
        <p:spPr>
          <a:xfrm>
            <a:off x="4572000" y="3182112"/>
            <a:ext cx="3886200" cy="182880"/>
          </a:xfrm>
          <a:prstGeom prst="rect">
            <a:avLst/>
          </a:prstGeom>
          <a:noFill/>
          <a:ln/>
        </p:spPr>
        <p:txBody>
          <a:bodyPr wrap="square" rtlCol="0" anchor="ctr"/>
          <a:lstStyle/>
          <a:p>
            <a:pPr indent="0" marL="0">
              <a:buNone/>
            </a:pPr>
            <a:r>
              <a:rPr lang="en-US" sz="800" spc="180" kern="0" dirty="0">
                <a:solidFill>
                  <a:srgbClr val="A68A55"/>
                </a:solidFill>
                <a:latin typeface="IBM Plex Mono" pitchFamily="34" charset="0"/>
                <a:ea typeface="IBM Plex Mono" pitchFamily="34" charset="-122"/>
                <a:cs typeface="IBM Plex Mono" pitchFamily="34" charset="-120"/>
              </a:rPr>
              <a:t>PILLAR IV</a:t>
            </a:r>
            <a:endParaRPr lang="en-US" sz="800" dirty="0"/>
          </a:p>
        </p:txBody>
      </p:sp>
      <p:sp>
        <p:nvSpPr>
          <p:cNvPr id="22" name="Text 20"/>
          <p:cNvSpPr/>
          <p:nvPr/>
        </p:nvSpPr>
        <p:spPr>
          <a:xfrm>
            <a:off x="4572000" y="3364992"/>
            <a:ext cx="3886200" cy="237744"/>
          </a:xfrm>
          <a:prstGeom prst="rect">
            <a:avLst/>
          </a:prstGeom>
          <a:noFill/>
          <a:ln/>
        </p:spPr>
        <p:txBody>
          <a:bodyPr wrap="square" rtlCol="0" anchor="ctr"/>
          <a:lstStyle/>
          <a:p>
            <a:pPr indent="0" marL="0">
              <a:buNone/>
            </a:pPr>
            <a:r>
              <a:rPr lang="en-US" sz="1100" spc="50" kern="0" dirty="0">
                <a:solidFill>
                  <a:srgbClr val="0B1E3A"/>
                </a:solidFill>
                <a:latin typeface="Bebas Neue" pitchFamily="34" charset="0"/>
                <a:ea typeface="Bebas Neue" pitchFamily="34" charset="-122"/>
                <a:cs typeface="Bebas Neue" pitchFamily="34" charset="-120"/>
              </a:rPr>
              <a:t>NARRATIVE PERSUASION</a:t>
            </a:r>
            <a:endParaRPr lang="en-US" sz="1100" dirty="0"/>
          </a:p>
        </p:txBody>
      </p:sp>
      <p:sp>
        <p:nvSpPr>
          <p:cNvPr id="23" name="Shape 21"/>
          <p:cNvSpPr/>
          <p:nvPr/>
        </p:nvSpPr>
        <p:spPr>
          <a:xfrm>
            <a:off x="4572000" y="3621024"/>
            <a:ext cx="3794760" cy="0"/>
          </a:xfrm>
          <a:prstGeom prst="line">
            <a:avLst/>
          </a:prstGeom>
          <a:noFill/>
          <a:ln w="7620">
            <a:solidFill>
              <a:srgbClr val="C9A96E"/>
            </a:solidFill>
            <a:prstDash val="solid"/>
          </a:ln>
        </p:spPr>
      </p:sp>
      <p:sp>
        <p:nvSpPr>
          <p:cNvPr id="24" name="Text 22"/>
          <p:cNvSpPr/>
          <p:nvPr/>
        </p:nvSpPr>
        <p:spPr>
          <a:xfrm>
            <a:off x="4572000" y="3694176"/>
            <a:ext cx="3794760" cy="841248"/>
          </a:xfrm>
          <a:prstGeom prst="rect">
            <a:avLst/>
          </a:prstGeom>
          <a:noFill/>
          <a:ln/>
        </p:spPr>
        <p:txBody>
          <a:bodyPr wrap="square" rtlCol="0" anchor="ctr"/>
          <a:lstStyle/>
          <a:p>
            <a:pPr indent="0" marL="0">
              <a:lnSpc>
                <a:spcPts val="1400"/>
              </a:lnSpc>
              <a:buNone/>
            </a:pPr>
            <a:r>
              <a:rPr lang="en-US" sz="1050" dirty="0">
                <a:solidFill>
                  <a:srgbClr val="0B1E3A"/>
                </a:solidFill>
                <a:latin typeface="IBM Plex Mono" pitchFamily="34" charset="0"/>
                <a:ea typeface="IBM Plex Mono" pitchFamily="34" charset="-122"/>
                <a:cs typeface="IBM Plex Mono" pitchFamily="34" charset="-120"/>
              </a:rPr>
              <a:t>Calibrating the alignment of imagery, soundscapes, pacing, and dialogue setups against specific psychographic profiles to maximize narrative impact and retention.</a:t>
            </a:r>
            <a:endParaRPr lang="en-US" sz="1050" dirty="0"/>
          </a:p>
        </p:txBody>
      </p:sp>
      <p:sp>
        <p:nvSpPr>
          <p:cNvPr id="25" name="Text 23"/>
          <p:cNvSpPr/>
          <p:nvPr/>
        </p:nvSpPr>
        <p:spPr>
          <a:xfrm>
            <a:off x="502920" y="4864608"/>
            <a:ext cx="6400800" cy="201168"/>
          </a:xfrm>
          <a:prstGeom prst="rect">
            <a:avLst/>
          </a:prstGeom>
          <a:noFill/>
          <a:ln/>
        </p:spPr>
        <p:txBody>
          <a:bodyPr wrap="square" rtlCol="0" anchor="ctr"/>
          <a:lstStyle/>
          <a:p>
            <a:pPr indent="0" marL="0">
              <a:buNone/>
            </a:pPr>
            <a:r>
              <a:rPr lang="en-US" sz="800" spc="150" kern="0" dirty="0">
                <a:solidFill>
                  <a:srgbClr val="A68A55"/>
                </a:solidFill>
                <a:latin typeface="IBM Plex Mono" pitchFamily="34" charset="0"/>
                <a:ea typeface="IBM Plex Mono" pitchFamily="34" charset="-122"/>
                <a:cs typeface="IBM Plex Mono" pitchFamily="34" charset="-120"/>
              </a:rPr>
              <a:t>AARON RAY  •  EXECUTIVE CREDENTIAL SYNTHESIS</a:t>
            </a:r>
            <a:endParaRPr lang="en-US" sz="800" dirty="0"/>
          </a:p>
        </p:txBody>
      </p:sp>
      <p:sp>
        <p:nvSpPr>
          <p:cNvPr id="26" name="Text 24"/>
          <p:cNvSpPr/>
          <p:nvPr/>
        </p:nvSpPr>
        <p:spPr>
          <a:xfrm>
            <a:off x="7498080" y="4864608"/>
            <a:ext cx="1188720" cy="201168"/>
          </a:xfrm>
          <a:prstGeom prst="rect">
            <a:avLst/>
          </a:prstGeom>
          <a:noFill/>
          <a:ln/>
        </p:spPr>
        <p:txBody>
          <a:bodyPr wrap="square" rtlCol="0" anchor="ctr"/>
          <a:lstStyle/>
          <a:p>
            <a:pPr algn="r" indent="0" marL="0">
              <a:buNone/>
            </a:pPr>
            <a:r>
              <a:rPr lang="en-US" sz="800" dirty="0">
                <a:solidFill>
                  <a:srgbClr val="A68A55"/>
                </a:solidFill>
                <a:latin typeface="IBM Plex Mono" pitchFamily="34" charset="0"/>
                <a:ea typeface="IBM Plex Mono" pitchFamily="34" charset="-122"/>
                <a:cs typeface="IBM Plex Mono" pitchFamily="34" charset="-120"/>
              </a:rPr>
              <a:t>05 / 06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96E"/>
          </a:solidFill>
          <a:ln w="12700">
            <a:solidFill>
              <a:srgbClr val="C9A96E"/>
            </a:solidFill>
            <a:prstDash val="solid"/>
          </a:ln>
        </p:spPr>
      </p:sp>
      <p:sp>
        <p:nvSpPr>
          <p:cNvPr id="3" name="Text 1"/>
          <p:cNvSpPr/>
          <p:nvPr/>
        </p:nvSpPr>
        <p:spPr>
          <a:xfrm>
            <a:off x="502920" y="256032"/>
            <a:ext cx="1097280" cy="438912"/>
          </a:xfrm>
          <a:prstGeom prst="rect">
            <a:avLst/>
          </a:prstGeom>
          <a:noFill/>
          <a:ln/>
        </p:spPr>
        <p:txBody>
          <a:bodyPr wrap="square" rtlCol="0" anchor="ctr"/>
          <a:lstStyle/>
          <a:p>
            <a:pPr indent="0" marL="0">
              <a:buNone/>
            </a:pPr>
            <a:r>
              <a:rPr lang="en-US" sz="2800" dirty="0">
                <a:solidFill>
                  <a:srgbClr val="C9A96E"/>
                </a:solidFill>
                <a:latin typeface="Bebas Neue" pitchFamily="34" charset="0"/>
                <a:ea typeface="Bebas Neue" pitchFamily="34" charset="-122"/>
                <a:cs typeface="Bebas Neue" pitchFamily="34" charset="-120"/>
              </a:rPr>
              <a:t>05</a:t>
            </a:r>
            <a:endParaRPr lang="en-US" sz="2800" dirty="0"/>
          </a:p>
        </p:txBody>
      </p:sp>
      <p:sp>
        <p:nvSpPr>
          <p:cNvPr id="4" name="Text 2"/>
          <p:cNvSpPr/>
          <p:nvPr/>
        </p:nvSpPr>
        <p:spPr>
          <a:xfrm>
            <a:off x="1417320" y="292608"/>
            <a:ext cx="7315200" cy="384048"/>
          </a:xfrm>
          <a:prstGeom prst="rect">
            <a:avLst/>
          </a:prstGeom>
          <a:noFill/>
          <a:ln/>
        </p:spPr>
        <p:txBody>
          <a:bodyPr wrap="square" rtlCol="0" anchor="ctr"/>
          <a:lstStyle/>
          <a:p>
            <a:pPr indent="0" marL="0">
              <a:buNone/>
            </a:pPr>
            <a:r>
              <a:rPr lang="en-US" sz="1600" spc="60" kern="0" dirty="0">
                <a:solidFill>
                  <a:srgbClr val="0B1E3A"/>
                </a:solidFill>
                <a:latin typeface="Bebas Neue" pitchFamily="34" charset="0"/>
                <a:ea typeface="Bebas Neue" pitchFamily="34" charset="-122"/>
                <a:cs typeface="Bebas Neue" pitchFamily="34" charset="-120"/>
              </a:rPr>
              <a:t>BENCHMARK QUALIFICATION STATEMENT</a:t>
            </a:r>
            <a:endParaRPr lang="en-US" sz="1600" dirty="0"/>
          </a:p>
        </p:txBody>
      </p:sp>
      <p:sp>
        <p:nvSpPr>
          <p:cNvPr id="5" name="Shape 3"/>
          <p:cNvSpPr/>
          <p:nvPr/>
        </p:nvSpPr>
        <p:spPr>
          <a:xfrm>
            <a:off x="502920" y="749808"/>
            <a:ext cx="8138160" cy="0"/>
          </a:xfrm>
          <a:prstGeom prst="line">
            <a:avLst/>
          </a:prstGeom>
          <a:noFill/>
          <a:ln w="15875">
            <a:solidFill>
              <a:srgbClr val="C9A96E"/>
            </a:solidFill>
            <a:prstDash val="solid"/>
          </a:ln>
        </p:spPr>
      </p:sp>
      <p:sp>
        <p:nvSpPr>
          <p:cNvPr id="6" name="Text 4"/>
          <p:cNvSpPr/>
          <p:nvPr/>
        </p:nvSpPr>
        <p:spPr>
          <a:xfrm>
            <a:off x="502920" y="896112"/>
            <a:ext cx="8138160" cy="475488"/>
          </a:xfrm>
          <a:prstGeom prst="rect">
            <a:avLst/>
          </a:prstGeom>
          <a:noFill/>
          <a:ln/>
        </p:spPr>
        <p:txBody>
          <a:bodyPr wrap="square" rtlCol="0" anchor="ctr"/>
          <a:lstStyle/>
          <a:p>
            <a:pPr indent="0" marL="0">
              <a:lnSpc>
                <a:spcPts val="1600"/>
              </a:lnSpc>
              <a:buNone/>
            </a:pPr>
            <a:r>
              <a:rPr lang="en-US" sz="1200" dirty="0">
                <a:solidFill>
                  <a:srgbClr val="0B1E3A"/>
                </a:solidFill>
                <a:latin typeface="IBM Plex Mono" pitchFamily="34" charset="0"/>
                <a:ea typeface="IBM Plex Mono" pitchFamily="34" charset="-122"/>
                <a:cs typeface="IBM Plex Mono" pitchFamily="34" charset="-120"/>
              </a:rPr>
              <a:t>Aaron Ray is uniquely qualified to design, validate, and publish advanced AI emotional and sensory benchmarks based on a rare convergence of cross-domain disciplines:</a:t>
            </a:r>
            <a:endParaRPr lang="en-US" sz="1200" dirty="0"/>
          </a:p>
        </p:txBody>
      </p:sp>
      <p:sp>
        <p:nvSpPr>
          <p:cNvPr id="7" name="Text 5"/>
          <p:cNvSpPr/>
          <p:nvPr/>
        </p:nvSpPr>
        <p:spPr>
          <a:xfrm>
            <a:off x="502920" y="1417320"/>
            <a:ext cx="320040" cy="292608"/>
          </a:xfrm>
          <a:prstGeom prst="rect">
            <a:avLst/>
          </a:prstGeom>
          <a:noFill/>
          <a:ln/>
        </p:spPr>
        <p:txBody>
          <a:bodyPr wrap="square" rtlCol="0" anchor="ctr"/>
          <a:lstStyle/>
          <a:p>
            <a:pPr indent="0" marL="0">
              <a:buNone/>
            </a:pPr>
            <a:r>
              <a:rPr lang="en-US" sz="1400" dirty="0">
                <a:solidFill>
                  <a:srgbClr val="C9A96E"/>
                </a:solidFill>
                <a:latin typeface="Bebas Neue" pitchFamily="34" charset="0"/>
                <a:ea typeface="Bebas Neue" pitchFamily="34" charset="-122"/>
                <a:cs typeface="Bebas Neue" pitchFamily="34" charset="-120"/>
              </a:rPr>
              <a:t>1</a:t>
            </a:r>
            <a:endParaRPr lang="en-US" sz="1400" dirty="0"/>
          </a:p>
        </p:txBody>
      </p:sp>
      <p:sp>
        <p:nvSpPr>
          <p:cNvPr id="8" name="Text 6"/>
          <p:cNvSpPr/>
          <p:nvPr/>
        </p:nvSpPr>
        <p:spPr>
          <a:xfrm>
            <a:off x="868680" y="1417320"/>
            <a:ext cx="7772400" cy="219456"/>
          </a:xfrm>
          <a:prstGeom prst="rect">
            <a:avLst/>
          </a:prstGeom>
          <a:noFill/>
          <a:ln/>
        </p:spPr>
        <p:txBody>
          <a:bodyPr wrap="square" rtlCol="0" anchor="ctr"/>
          <a:lstStyle/>
          <a:p>
            <a:pPr indent="0" marL="0">
              <a:buNone/>
            </a:pPr>
            <a:r>
              <a:rPr lang="en-US" sz="1050" spc="40" kern="0" dirty="0">
                <a:solidFill>
                  <a:srgbClr val="0B1E3A"/>
                </a:solidFill>
                <a:latin typeface="Bebas Neue" pitchFamily="34" charset="0"/>
                <a:ea typeface="Bebas Neue" pitchFamily="34" charset="-122"/>
                <a:cs typeface="Bebas Neue" pitchFamily="34" charset="-120"/>
              </a:rPr>
              <a:t>Decades of Practical Mastery</a:t>
            </a:r>
            <a:endParaRPr lang="en-US" sz="1050" dirty="0"/>
          </a:p>
        </p:txBody>
      </p:sp>
      <p:sp>
        <p:nvSpPr>
          <p:cNvPr id="9" name="Text 7"/>
          <p:cNvSpPr/>
          <p:nvPr/>
        </p:nvSpPr>
        <p:spPr>
          <a:xfrm>
            <a:off x="868680" y="1636776"/>
            <a:ext cx="7772400" cy="347472"/>
          </a:xfrm>
          <a:prstGeom prst="rect">
            <a:avLst/>
          </a:prstGeom>
          <a:noFill/>
          <a:ln/>
        </p:spPr>
        <p:txBody>
          <a:bodyPr wrap="square" rtlCol="0" anchor="ctr"/>
          <a:lstStyle/>
          <a:p>
            <a:pPr indent="0" marL="0">
              <a:lnSpc>
                <a:spcPts val="1400"/>
              </a:lnSpc>
              <a:buNone/>
            </a:pPr>
            <a:r>
              <a:rPr lang="en-US" sz="1050" dirty="0">
                <a:solidFill>
                  <a:srgbClr val="2A3A52"/>
                </a:solidFill>
                <a:latin typeface="IBM Plex Mono" pitchFamily="34" charset="0"/>
                <a:ea typeface="IBM Plex Mono" pitchFamily="34" charset="-122"/>
                <a:cs typeface="IBM Plex Mono" pitchFamily="34" charset="-120"/>
              </a:rPr>
              <a:t>Extensive professional experience directing human emotional response at scale within commercial entertainment environments.</a:t>
            </a:r>
            <a:endParaRPr lang="en-US" sz="1050" dirty="0"/>
          </a:p>
        </p:txBody>
      </p:sp>
      <p:sp>
        <p:nvSpPr>
          <p:cNvPr id="10" name="Shape 8"/>
          <p:cNvSpPr/>
          <p:nvPr/>
        </p:nvSpPr>
        <p:spPr>
          <a:xfrm>
            <a:off x="868680" y="1965960"/>
            <a:ext cx="7680960" cy="0"/>
          </a:xfrm>
          <a:prstGeom prst="line">
            <a:avLst/>
          </a:prstGeom>
          <a:noFill/>
          <a:ln w="6350">
            <a:solidFill>
              <a:srgbClr val="C9A96E"/>
            </a:solidFill>
            <a:prstDash val="solid"/>
          </a:ln>
        </p:spPr>
      </p:sp>
      <p:sp>
        <p:nvSpPr>
          <p:cNvPr id="11" name="Text 9"/>
          <p:cNvSpPr/>
          <p:nvPr/>
        </p:nvSpPr>
        <p:spPr>
          <a:xfrm>
            <a:off x="502920" y="2020824"/>
            <a:ext cx="320040" cy="292608"/>
          </a:xfrm>
          <a:prstGeom prst="rect">
            <a:avLst/>
          </a:prstGeom>
          <a:noFill/>
          <a:ln/>
        </p:spPr>
        <p:txBody>
          <a:bodyPr wrap="square" rtlCol="0" anchor="ctr"/>
          <a:lstStyle/>
          <a:p>
            <a:pPr indent="0" marL="0">
              <a:buNone/>
            </a:pPr>
            <a:r>
              <a:rPr lang="en-US" sz="1400" dirty="0">
                <a:solidFill>
                  <a:srgbClr val="C9A96E"/>
                </a:solidFill>
                <a:latin typeface="Bebas Neue" pitchFamily="34" charset="0"/>
                <a:ea typeface="Bebas Neue" pitchFamily="34" charset="-122"/>
                <a:cs typeface="Bebas Neue" pitchFamily="34" charset="-120"/>
              </a:rPr>
              <a:t>2</a:t>
            </a:r>
            <a:endParaRPr lang="en-US" sz="1400" dirty="0"/>
          </a:p>
        </p:txBody>
      </p:sp>
      <p:sp>
        <p:nvSpPr>
          <p:cNvPr id="12" name="Text 10"/>
          <p:cNvSpPr/>
          <p:nvPr/>
        </p:nvSpPr>
        <p:spPr>
          <a:xfrm>
            <a:off x="868680" y="2020824"/>
            <a:ext cx="7772400" cy="219456"/>
          </a:xfrm>
          <a:prstGeom prst="rect">
            <a:avLst/>
          </a:prstGeom>
          <a:noFill/>
          <a:ln/>
        </p:spPr>
        <p:txBody>
          <a:bodyPr wrap="square" rtlCol="0" anchor="ctr"/>
          <a:lstStyle/>
          <a:p>
            <a:pPr indent="0" marL="0">
              <a:buNone/>
            </a:pPr>
            <a:r>
              <a:rPr lang="en-US" sz="1050" spc="40" kern="0" dirty="0">
                <a:solidFill>
                  <a:srgbClr val="0B1E3A"/>
                </a:solidFill>
                <a:latin typeface="Bebas Neue" pitchFamily="34" charset="0"/>
                <a:ea typeface="Bebas Neue" pitchFamily="34" charset="-122"/>
                <a:cs typeface="Bebas Neue" pitchFamily="34" charset="-120"/>
              </a:rPr>
              <a:t>Academic &amp; Forensic Grounding</a:t>
            </a:r>
            <a:endParaRPr lang="en-US" sz="1050" dirty="0"/>
          </a:p>
        </p:txBody>
      </p:sp>
      <p:sp>
        <p:nvSpPr>
          <p:cNvPr id="13" name="Text 11"/>
          <p:cNvSpPr/>
          <p:nvPr/>
        </p:nvSpPr>
        <p:spPr>
          <a:xfrm>
            <a:off x="868680" y="2240280"/>
            <a:ext cx="7772400" cy="347472"/>
          </a:xfrm>
          <a:prstGeom prst="rect">
            <a:avLst/>
          </a:prstGeom>
          <a:noFill/>
          <a:ln/>
        </p:spPr>
        <p:txBody>
          <a:bodyPr wrap="square" rtlCol="0" anchor="ctr"/>
          <a:lstStyle/>
          <a:p>
            <a:pPr indent="0" marL="0">
              <a:lnSpc>
                <a:spcPts val="1400"/>
              </a:lnSpc>
              <a:buNone/>
            </a:pPr>
            <a:r>
              <a:rPr lang="en-US" sz="1050" dirty="0">
                <a:solidFill>
                  <a:srgbClr val="2A3A52"/>
                </a:solidFill>
                <a:latin typeface="IBM Plex Mono" pitchFamily="34" charset="0"/>
                <a:ea typeface="IBM Plex Mono" pitchFamily="34" charset="-122"/>
                <a:cs typeface="IBM Plex Mono" pitchFamily="34" charset="-120"/>
              </a:rPr>
              <a:t>Structural knowledge base spanning forensic phonetics, voice print identification, and real-world acoustic surveillance analysis.</a:t>
            </a:r>
            <a:endParaRPr lang="en-US" sz="1050" dirty="0"/>
          </a:p>
        </p:txBody>
      </p:sp>
      <p:sp>
        <p:nvSpPr>
          <p:cNvPr id="14" name="Shape 12"/>
          <p:cNvSpPr/>
          <p:nvPr/>
        </p:nvSpPr>
        <p:spPr>
          <a:xfrm>
            <a:off x="868680" y="2569464"/>
            <a:ext cx="7680960" cy="0"/>
          </a:xfrm>
          <a:prstGeom prst="line">
            <a:avLst/>
          </a:prstGeom>
          <a:noFill/>
          <a:ln w="6350">
            <a:solidFill>
              <a:srgbClr val="C9A96E"/>
            </a:solidFill>
            <a:prstDash val="solid"/>
          </a:ln>
        </p:spPr>
      </p:sp>
      <p:sp>
        <p:nvSpPr>
          <p:cNvPr id="15" name="Text 13"/>
          <p:cNvSpPr/>
          <p:nvPr/>
        </p:nvSpPr>
        <p:spPr>
          <a:xfrm>
            <a:off x="502920" y="2624328"/>
            <a:ext cx="320040" cy="292608"/>
          </a:xfrm>
          <a:prstGeom prst="rect">
            <a:avLst/>
          </a:prstGeom>
          <a:noFill/>
          <a:ln/>
        </p:spPr>
        <p:txBody>
          <a:bodyPr wrap="square" rtlCol="0" anchor="ctr"/>
          <a:lstStyle/>
          <a:p>
            <a:pPr indent="0" marL="0">
              <a:buNone/>
            </a:pPr>
            <a:r>
              <a:rPr lang="en-US" sz="1400" dirty="0">
                <a:solidFill>
                  <a:srgbClr val="C9A96E"/>
                </a:solidFill>
                <a:latin typeface="Bebas Neue" pitchFamily="34" charset="0"/>
                <a:ea typeface="Bebas Neue" pitchFamily="34" charset="-122"/>
                <a:cs typeface="Bebas Neue" pitchFamily="34" charset="-120"/>
              </a:rPr>
              <a:t>3</a:t>
            </a:r>
            <a:endParaRPr lang="en-US" sz="1400" dirty="0"/>
          </a:p>
        </p:txBody>
      </p:sp>
      <p:sp>
        <p:nvSpPr>
          <p:cNvPr id="16" name="Text 14"/>
          <p:cNvSpPr/>
          <p:nvPr/>
        </p:nvSpPr>
        <p:spPr>
          <a:xfrm>
            <a:off x="868680" y="2624328"/>
            <a:ext cx="7772400" cy="219456"/>
          </a:xfrm>
          <a:prstGeom prst="rect">
            <a:avLst/>
          </a:prstGeom>
          <a:noFill/>
          <a:ln/>
        </p:spPr>
        <p:txBody>
          <a:bodyPr wrap="square" rtlCol="0" anchor="ctr"/>
          <a:lstStyle/>
          <a:p>
            <a:pPr indent="0" marL="0">
              <a:buNone/>
            </a:pPr>
            <a:r>
              <a:rPr lang="en-US" sz="1050" spc="40" kern="0" dirty="0">
                <a:solidFill>
                  <a:srgbClr val="0B1E3A"/>
                </a:solidFill>
                <a:latin typeface="Bebas Neue" pitchFamily="34" charset="0"/>
                <a:ea typeface="Bebas Neue" pitchFamily="34" charset="-122"/>
                <a:cs typeface="Bebas Neue" pitchFamily="34" charset="-120"/>
              </a:rPr>
              <a:t>Hands-On Machine Learning Expertise</a:t>
            </a:r>
            <a:endParaRPr lang="en-US" sz="1050" dirty="0"/>
          </a:p>
        </p:txBody>
      </p:sp>
      <p:sp>
        <p:nvSpPr>
          <p:cNvPr id="17" name="Text 15"/>
          <p:cNvSpPr/>
          <p:nvPr/>
        </p:nvSpPr>
        <p:spPr>
          <a:xfrm>
            <a:off x="868680" y="2843784"/>
            <a:ext cx="7772400" cy="347472"/>
          </a:xfrm>
          <a:prstGeom prst="rect">
            <a:avLst/>
          </a:prstGeom>
          <a:noFill/>
          <a:ln/>
        </p:spPr>
        <p:txBody>
          <a:bodyPr wrap="square" rtlCol="0" anchor="ctr"/>
          <a:lstStyle/>
          <a:p>
            <a:pPr indent="0" marL="0">
              <a:lnSpc>
                <a:spcPts val="1400"/>
              </a:lnSpc>
              <a:buNone/>
            </a:pPr>
            <a:r>
              <a:rPr lang="en-US" sz="1050" dirty="0">
                <a:solidFill>
                  <a:srgbClr val="2A3A52"/>
                </a:solidFill>
                <a:latin typeface="IBM Plex Mono" pitchFamily="34" charset="0"/>
                <a:ea typeface="IBM Plex Mono" pitchFamily="34" charset="-122"/>
                <a:cs typeface="IBM Plex Mono" pitchFamily="34" charset="-120"/>
              </a:rPr>
              <a:t>Deep technical proficiency building, training, and fine-tuning neural networks, audio generation systems, and agentic CLI pipelines.</a:t>
            </a:r>
            <a:endParaRPr lang="en-US" sz="1050" dirty="0"/>
          </a:p>
        </p:txBody>
      </p:sp>
      <p:sp>
        <p:nvSpPr>
          <p:cNvPr id="18" name="Shape 16"/>
          <p:cNvSpPr/>
          <p:nvPr/>
        </p:nvSpPr>
        <p:spPr>
          <a:xfrm>
            <a:off x="868680" y="3172968"/>
            <a:ext cx="7680960" cy="0"/>
          </a:xfrm>
          <a:prstGeom prst="line">
            <a:avLst/>
          </a:prstGeom>
          <a:noFill/>
          <a:ln w="6350">
            <a:solidFill>
              <a:srgbClr val="C9A96E"/>
            </a:solidFill>
            <a:prstDash val="solid"/>
          </a:ln>
        </p:spPr>
      </p:sp>
      <p:sp>
        <p:nvSpPr>
          <p:cNvPr id="19" name="Text 17"/>
          <p:cNvSpPr/>
          <p:nvPr/>
        </p:nvSpPr>
        <p:spPr>
          <a:xfrm>
            <a:off x="502920" y="3227832"/>
            <a:ext cx="320040" cy="292608"/>
          </a:xfrm>
          <a:prstGeom prst="rect">
            <a:avLst/>
          </a:prstGeom>
          <a:noFill/>
          <a:ln/>
        </p:spPr>
        <p:txBody>
          <a:bodyPr wrap="square" rtlCol="0" anchor="ctr"/>
          <a:lstStyle/>
          <a:p>
            <a:pPr indent="0" marL="0">
              <a:buNone/>
            </a:pPr>
            <a:r>
              <a:rPr lang="en-US" sz="1400" dirty="0">
                <a:solidFill>
                  <a:srgbClr val="C9A96E"/>
                </a:solidFill>
                <a:latin typeface="Bebas Neue" pitchFamily="34" charset="0"/>
                <a:ea typeface="Bebas Neue" pitchFamily="34" charset="-122"/>
                <a:cs typeface="Bebas Neue" pitchFamily="34" charset="-120"/>
              </a:rPr>
              <a:t>4</a:t>
            </a:r>
            <a:endParaRPr lang="en-US" sz="1400" dirty="0"/>
          </a:p>
        </p:txBody>
      </p:sp>
      <p:sp>
        <p:nvSpPr>
          <p:cNvPr id="20" name="Text 18"/>
          <p:cNvSpPr/>
          <p:nvPr/>
        </p:nvSpPr>
        <p:spPr>
          <a:xfrm>
            <a:off x="868680" y="3227832"/>
            <a:ext cx="7772400" cy="219456"/>
          </a:xfrm>
          <a:prstGeom prst="rect">
            <a:avLst/>
          </a:prstGeom>
          <a:noFill/>
          <a:ln/>
        </p:spPr>
        <p:txBody>
          <a:bodyPr wrap="square" rtlCol="0" anchor="ctr"/>
          <a:lstStyle/>
          <a:p>
            <a:pPr indent="0" marL="0">
              <a:buNone/>
            </a:pPr>
            <a:r>
              <a:rPr lang="en-US" sz="1050" spc="40" kern="0" dirty="0">
                <a:solidFill>
                  <a:srgbClr val="0B1E3A"/>
                </a:solidFill>
                <a:latin typeface="Bebas Neue" pitchFamily="34" charset="0"/>
                <a:ea typeface="Bebas Neue" pitchFamily="34" charset="-122"/>
                <a:cs typeface="Bebas Neue" pitchFamily="34" charset="-120"/>
              </a:rPr>
              <a:t>Advanced Multi-Modal Integration</a:t>
            </a:r>
            <a:endParaRPr lang="en-US" sz="1050" dirty="0"/>
          </a:p>
        </p:txBody>
      </p:sp>
      <p:sp>
        <p:nvSpPr>
          <p:cNvPr id="21" name="Text 19"/>
          <p:cNvSpPr/>
          <p:nvPr/>
        </p:nvSpPr>
        <p:spPr>
          <a:xfrm>
            <a:off x="868680" y="3447288"/>
            <a:ext cx="7772400" cy="347472"/>
          </a:xfrm>
          <a:prstGeom prst="rect">
            <a:avLst/>
          </a:prstGeom>
          <a:noFill/>
          <a:ln/>
        </p:spPr>
        <p:txBody>
          <a:bodyPr wrap="square" rtlCol="0" anchor="ctr"/>
          <a:lstStyle/>
          <a:p>
            <a:pPr indent="0" marL="0">
              <a:lnSpc>
                <a:spcPts val="1400"/>
              </a:lnSpc>
              <a:buNone/>
            </a:pPr>
            <a:r>
              <a:rPr lang="en-US" sz="1050" dirty="0">
                <a:solidFill>
                  <a:srgbClr val="2A3A52"/>
                </a:solidFill>
                <a:latin typeface="IBM Plex Mono" pitchFamily="34" charset="0"/>
                <a:ea typeface="IBM Plex Mono" pitchFamily="34" charset="-122"/>
                <a:cs typeface="IBM Plex Mono" pitchFamily="34" charset="-120"/>
              </a:rPr>
              <a:t>Proven deployment of top-tier brain encoding foundation models (such as Meta's TRIBE v2 framework) to map digital media assets directly to biological neuro-imaging data.</a:t>
            </a:r>
            <a:endParaRPr lang="en-US" sz="1050" dirty="0"/>
          </a:p>
        </p:txBody>
      </p:sp>
      <p:sp>
        <p:nvSpPr>
          <p:cNvPr id="22" name="Shape 20"/>
          <p:cNvSpPr/>
          <p:nvPr/>
        </p:nvSpPr>
        <p:spPr>
          <a:xfrm>
            <a:off x="868680" y="3776472"/>
            <a:ext cx="7680960" cy="0"/>
          </a:xfrm>
          <a:prstGeom prst="line">
            <a:avLst/>
          </a:prstGeom>
          <a:noFill/>
          <a:ln w="6350">
            <a:solidFill>
              <a:srgbClr val="C9A96E"/>
            </a:solidFill>
            <a:prstDash val="solid"/>
          </a:ln>
        </p:spPr>
      </p:sp>
      <p:sp>
        <p:nvSpPr>
          <p:cNvPr id="23" name="Text 21"/>
          <p:cNvSpPr/>
          <p:nvPr/>
        </p:nvSpPr>
        <p:spPr>
          <a:xfrm>
            <a:off x="502920" y="3831336"/>
            <a:ext cx="320040" cy="292608"/>
          </a:xfrm>
          <a:prstGeom prst="rect">
            <a:avLst/>
          </a:prstGeom>
          <a:noFill/>
          <a:ln/>
        </p:spPr>
        <p:txBody>
          <a:bodyPr wrap="square" rtlCol="0" anchor="ctr"/>
          <a:lstStyle/>
          <a:p>
            <a:pPr indent="0" marL="0">
              <a:buNone/>
            </a:pPr>
            <a:r>
              <a:rPr lang="en-US" sz="1400" dirty="0">
                <a:solidFill>
                  <a:srgbClr val="C9A96E"/>
                </a:solidFill>
                <a:latin typeface="Bebas Neue" pitchFamily="34" charset="0"/>
                <a:ea typeface="Bebas Neue" pitchFamily="34" charset="-122"/>
                <a:cs typeface="Bebas Neue" pitchFamily="34" charset="-120"/>
              </a:rPr>
              <a:t>5</a:t>
            </a:r>
            <a:endParaRPr lang="en-US" sz="1400" dirty="0"/>
          </a:p>
        </p:txBody>
      </p:sp>
      <p:sp>
        <p:nvSpPr>
          <p:cNvPr id="24" name="Text 22"/>
          <p:cNvSpPr/>
          <p:nvPr/>
        </p:nvSpPr>
        <p:spPr>
          <a:xfrm>
            <a:off x="868680" y="3831336"/>
            <a:ext cx="7772400" cy="219456"/>
          </a:xfrm>
          <a:prstGeom prst="rect">
            <a:avLst/>
          </a:prstGeom>
          <a:noFill/>
          <a:ln/>
        </p:spPr>
        <p:txBody>
          <a:bodyPr wrap="square" rtlCol="0" anchor="ctr"/>
          <a:lstStyle/>
          <a:p>
            <a:pPr indent="0" marL="0">
              <a:buNone/>
            </a:pPr>
            <a:r>
              <a:rPr lang="en-US" sz="1050" spc="40" kern="0" dirty="0">
                <a:solidFill>
                  <a:srgbClr val="0B1E3A"/>
                </a:solidFill>
                <a:latin typeface="Bebas Neue" pitchFamily="34" charset="0"/>
                <a:ea typeface="Bebas Neue" pitchFamily="34" charset="-122"/>
                <a:cs typeface="Bebas Neue" pitchFamily="34" charset="-120"/>
              </a:rPr>
              <a:t>Published Benchmark Track Record</a:t>
            </a:r>
            <a:endParaRPr lang="en-US" sz="1050" dirty="0"/>
          </a:p>
        </p:txBody>
      </p:sp>
      <p:sp>
        <p:nvSpPr>
          <p:cNvPr id="25" name="Text 23"/>
          <p:cNvSpPr/>
          <p:nvPr/>
        </p:nvSpPr>
        <p:spPr>
          <a:xfrm>
            <a:off x="868680" y="4050792"/>
            <a:ext cx="7772400" cy="347472"/>
          </a:xfrm>
          <a:prstGeom prst="rect">
            <a:avLst/>
          </a:prstGeom>
          <a:noFill/>
          <a:ln/>
        </p:spPr>
        <p:txBody>
          <a:bodyPr wrap="square" rtlCol="0" anchor="ctr"/>
          <a:lstStyle/>
          <a:p>
            <a:pPr indent="0" marL="0">
              <a:lnSpc>
                <a:spcPts val="1400"/>
              </a:lnSpc>
              <a:buNone/>
            </a:pPr>
            <a:r>
              <a:rPr lang="en-US" sz="1050" dirty="0">
                <a:solidFill>
                  <a:srgbClr val="2A3A52"/>
                </a:solidFill>
                <a:latin typeface="IBM Plex Mono" pitchFamily="34" charset="0"/>
                <a:ea typeface="IBM Plex Mono" pitchFamily="34" charset="-122"/>
                <a:cs typeface="IBM Plex Mono" pitchFamily="34" charset="-120"/>
              </a:rPr>
              <a:t>Demonstrated capability in compiling rigorous, objective metrics, building on the methodology established in the previously published Kingsfield Legal Citation Benchmark to eliminate systemic evaluation bias.</a:t>
            </a:r>
            <a:endParaRPr lang="en-US" sz="1050" dirty="0"/>
          </a:p>
        </p:txBody>
      </p:sp>
      <p:sp>
        <p:nvSpPr>
          <p:cNvPr id="26" name="Text 24"/>
          <p:cNvSpPr/>
          <p:nvPr/>
        </p:nvSpPr>
        <p:spPr>
          <a:xfrm>
            <a:off x="502920" y="4864608"/>
            <a:ext cx="6400800" cy="201168"/>
          </a:xfrm>
          <a:prstGeom prst="rect">
            <a:avLst/>
          </a:prstGeom>
          <a:noFill/>
          <a:ln/>
        </p:spPr>
        <p:txBody>
          <a:bodyPr wrap="square" rtlCol="0" anchor="ctr"/>
          <a:lstStyle/>
          <a:p>
            <a:pPr indent="0" marL="0">
              <a:buNone/>
            </a:pPr>
            <a:r>
              <a:rPr lang="en-US" sz="800" spc="150" kern="0" dirty="0">
                <a:solidFill>
                  <a:srgbClr val="A68A55"/>
                </a:solidFill>
                <a:latin typeface="IBM Plex Mono" pitchFamily="34" charset="0"/>
                <a:ea typeface="IBM Plex Mono" pitchFamily="34" charset="-122"/>
                <a:cs typeface="IBM Plex Mono" pitchFamily="34" charset="-120"/>
              </a:rPr>
              <a:t>AARON RAY  •  EXECUTIVE CREDENTIAL SYNTHESIS</a:t>
            </a:r>
            <a:endParaRPr lang="en-US" sz="800" dirty="0"/>
          </a:p>
        </p:txBody>
      </p:sp>
      <p:sp>
        <p:nvSpPr>
          <p:cNvPr id="27" name="Text 25"/>
          <p:cNvSpPr/>
          <p:nvPr/>
        </p:nvSpPr>
        <p:spPr>
          <a:xfrm>
            <a:off x="7498080" y="4864608"/>
            <a:ext cx="1188720" cy="201168"/>
          </a:xfrm>
          <a:prstGeom prst="rect">
            <a:avLst/>
          </a:prstGeom>
          <a:noFill/>
          <a:ln/>
        </p:spPr>
        <p:txBody>
          <a:bodyPr wrap="square" rtlCol="0" anchor="ctr"/>
          <a:lstStyle/>
          <a:p>
            <a:pPr algn="r" indent="0" marL="0">
              <a:buNone/>
            </a:pPr>
            <a:r>
              <a:rPr lang="en-US" sz="800" dirty="0">
                <a:solidFill>
                  <a:srgbClr val="A68A55"/>
                </a:solidFill>
                <a:latin typeface="IBM Plex Mono" pitchFamily="34" charset="0"/>
                <a:ea typeface="IBM Plex Mono" pitchFamily="34" charset="-122"/>
                <a:cs typeface="IBM Plex Mono" pitchFamily="34" charset="-120"/>
              </a:rPr>
              <a:t>06 / 06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Credential Synthesis — Aaron Ray</dc:title>
  <dc:subject>AI Emotional Benchmarking | Forensic Audiovisual Analysis | Artificial Senses Systems</dc:subject>
  <dc:creator>Aaron Ray</dc:creator>
  <cp:lastModifiedBy>Aaron Ray</cp:lastModifiedBy>
  <cp:revision>1</cp:revision>
  <dcterms:created xsi:type="dcterms:W3CDTF">2026-06-13T01:22:34Z</dcterms:created>
  <dcterms:modified xsi:type="dcterms:W3CDTF">2026-06-13T01:22:34Z</dcterms:modified>
</cp:coreProperties>
</file>